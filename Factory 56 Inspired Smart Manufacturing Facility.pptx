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71" r:id="rId4"/>
    <p:sldId id="272" r:id="rId5"/>
    <p:sldId id="273" r:id="rId6"/>
    <p:sldId id="274" r:id="rId7"/>
    <p:sldId id="275" r:id="rId8"/>
    <p:sldId id="276" r:id="rId9"/>
    <p:sldId id="281" r:id="rId10"/>
    <p:sldId id="277" r:id="rId11"/>
    <p:sldId id="287" r:id="rId12"/>
    <p:sldId id="278" r:id="rId13"/>
    <p:sldId id="279" r:id="rId14"/>
    <p:sldId id="282" r:id="rId15"/>
    <p:sldId id="283" r:id="rId16"/>
    <p:sldId id="285" r:id="rId17"/>
    <p:sldId id="284" r:id="rId18"/>
    <p:sldId id="28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168697-F9C5-4623-88EC-07D64CF79A2A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9D4711-996A-4535-ACC1-95F492CE2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218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A8687-127E-41F8-6786-43EB82FA33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95AD6B-B613-F7FA-478E-48E1A182AB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A28E7-8140-E32E-06DF-CF0EC7EB8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9FC02-ED8D-41EC-A3E7-E912AF3D9AD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76BD0-6E3C-6FBE-08B8-EF14AC77D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14A6E-9C3A-86E3-C794-406F76A23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7BC34-FF16-4193-8280-106E1FC74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821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DD512-D97A-8666-0E0A-B4DF0A0FE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38030-60E2-D920-0511-CF0A78F96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81EB6-DA7B-3958-CBA2-3D36FFE08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9FC02-ED8D-41EC-A3E7-E912AF3D9AD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687FA-D2BD-7CAC-29B2-FC8510F8B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F9E97-9D8F-7939-286A-FA4373D34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7BC34-FF16-4193-8280-106E1FC74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124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47BA7-4657-70AD-64D9-CE01DC3DC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7514F-22DC-6FBE-21FC-38DBDAC52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CCB3A-950B-9487-5C61-29CA27AEB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9FC02-ED8D-41EC-A3E7-E912AF3D9AD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9CF84-B3D8-7C76-0D02-E1573BA0D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53FBF-A8F8-7876-6F5A-4E783BDEF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7BC34-FF16-4193-8280-106E1FC74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712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9750B-E70A-2791-A592-D9F9A7DDA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BDD4D-EC0B-867F-677B-6C64AD6560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CCF40F-C60D-B6E9-58E6-80E051A2B0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347357-180B-8733-3C65-7FF4BA4D0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9FC02-ED8D-41EC-A3E7-E912AF3D9AD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CDDBF1-2B42-8407-E7CB-C1E484EE1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FFD4D7-835F-9085-3CE6-088BA04E4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7BC34-FF16-4193-8280-106E1FC74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144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143F5-5B70-AD0B-83A4-ED2836282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33A17-CB7C-59BC-FF34-FA002377A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4AC7A0-1777-95EE-B40D-2CF0AAC740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F31184-AEBC-20E9-FE7A-F26F99110D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286272-764F-FD1D-C5A7-52761FD9D0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BD8A55-A393-A754-4B0D-0AFB36882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9FC02-ED8D-41EC-A3E7-E912AF3D9AD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F26643-1D85-23BD-C37F-75AE39558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7756C2-1950-3B50-FDBE-1970DF53F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7BC34-FF16-4193-8280-106E1FC74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160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8A82B-1272-D9A7-4220-0CB16C8DD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793225-0A44-68E9-134B-2B692452E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9FC02-ED8D-41EC-A3E7-E912AF3D9AD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BFB89E-CB88-8E43-1F5D-3C6FDFAFF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79D753-DCFD-5DDF-5A25-952906B69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7BC34-FF16-4193-8280-106E1FC74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465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260D06-D10C-D835-E53D-7166E0CFF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9FC02-ED8D-41EC-A3E7-E912AF3D9AD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D45F7C-5E67-47CE-06AF-73F7177A2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25A33-8707-6ABB-B6A8-3EB4D130E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7BC34-FF16-4193-8280-106E1FC74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431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F9C98-D22F-A7D4-F7B4-A96FABD57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77B46-6DEB-255E-A82B-C52AE7438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145FE6-507B-C1C7-2C18-182613521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25727A-0397-FDAD-DA3F-3E1D5B5E0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9FC02-ED8D-41EC-A3E7-E912AF3D9AD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753E22-379A-F644-0129-012D248B8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567908-D4A5-7C38-1BF6-AA63A61A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7BC34-FF16-4193-8280-106E1FC74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964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64A28-02FE-305B-D68F-87842E1DA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A26428-ADDC-0E5F-6FAD-9D2AF463B2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C4EC9A-038E-159D-2A0B-E4956A1664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08C38-646A-9D88-DEC7-D7B4A06CF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9FC02-ED8D-41EC-A3E7-E912AF3D9AD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3F5DCD-0202-9E8F-361A-5EC502B4A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F961D5-08C4-A2B5-84A5-AFF7F403F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7BC34-FF16-4193-8280-106E1FC74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638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B99AE-8C4F-1942-95B9-9932A0E90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570ABF-FBD8-6801-3325-F88A2AF88A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8755A-59CD-8502-A9FD-74C70A6A1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9FC02-ED8D-41EC-A3E7-E912AF3D9AD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2318D-4679-803F-CF36-AE8629F0D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2E5F3-5566-FDB3-772D-001EA0D9C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7BC34-FF16-4193-8280-106E1FC74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528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7A994A-D29D-F53F-A5E9-FC3CD00E29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C5AC8C-C404-9022-F1D4-3AFB292BD1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4BBA2-E49B-074F-E45C-A92930B1A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9FC02-ED8D-41EC-A3E7-E912AF3D9AD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E0429-7E7E-2542-E9D6-0595B2BA3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4DF3B-99B6-FA7F-7175-6E01E86F5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7BC34-FF16-4193-8280-106E1FC74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213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0B5BD6-BC67-1008-F469-076DCED5F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5A6B42-C163-480F-EE70-D2E278346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8FAF5-5552-5385-A6FA-264DC15E0D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09FC02-ED8D-41EC-A3E7-E912AF3D9AD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21EBF0-55EF-6369-EC3F-FEDA550191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C8BDE-F766-32FD-EA7C-A93E95296C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E7BC34-FF16-4193-8280-106E1FC74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689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aerial view of a large city&#10;&#10;AI-generated content may be incorrect.">
            <a:extLst>
              <a:ext uri="{FF2B5EF4-FFF2-40B4-BE49-F238E27FC236}">
                <a16:creationId xmlns:a16="http://schemas.microsoft.com/office/drawing/2014/main" id="{A2EC7A65-E2C7-60DE-F26B-5D1299E5BD8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34" r="-1" b="-1"/>
          <a:stretch>
            <a:fillRect/>
          </a:stretch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F326B55-3FE2-513D-F511-A48DB0B60F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en-US" sz="6600">
                <a:solidFill>
                  <a:schemeClr val="bg1"/>
                </a:solidFill>
              </a:rPr>
              <a:t>Factory 56 Inspired Smart Manufacturing Facility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EE95CA-B102-F7CE-5120-6C41884AB1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PERT Analysis and comparison between PERT and CPM</a:t>
            </a:r>
          </a:p>
          <a:p>
            <a:r>
              <a:rPr lang="en-US">
                <a:solidFill>
                  <a:schemeClr val="bg1"/>
                </a:solidFill>
              </a:rPr>
              <a:t>Ans Mohammed Ayad Elkabir</a:t>
            </a:r>
          </a:p>
          <a:p>
            <a:r>
              <a:rPr lang="en-US">
                <a:solidFill>
                  <a:schemeClr val="bg1"/>
                </a:solidFill>
              </a:rPr>
              <a:t>240270359</a:t>
            </a:r>
          </a:p>
        </p:txBody>
      </p:sp>
      <p:sp>
        <p:nvSpPr>
          <p:cNvPr id="50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088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9CB0874-88B8-43D3-B0B6-C32F790F7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BFD067A-52BE-40EE-B7CA-391830B9A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2561771"/>
            <a:chOff x="0" y="0"/>
            <a:chExt cx="12192000" cy="256177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CDA7855-806B-4A02-9C19-24872E4D8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AFE70DE-5BEC-4E54-98D2-48C13E1491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FC0128A-D709-F3AD-D36E-AB81F49B9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2915" y="1040400"/>
            <a:ext cx="7866060" cy="707886"/>
          </a:xfrm>
        </p:spPr>
        <p:txBody>
          <a:bodyPr anchor="b">
            <a:normAutofit/>
          </a:bodyPr>
          <a:lstStyle/>
          <a:p>
            <a:r>
              <a:rPr lang="en-US" sz="4000" dirty="0"/>
              <a:t>What is PERT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15B8CC4-8CCE-428F-AE7E-28D178984C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0" y="2027156"/>
            <a:ext cx="12192000" cy="757168"/>
            <a:chOff x="0" y="2959818"/>
            <a:chExt cx="12192000" cy="75716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6359FA2-E374-4073-8269-E10D2AE74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A1F0E66-9B5E-4980-8AEC-B4D144B48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EE852-2B4B-8B30-4BC6-C090A430D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2914" y="3070719"/>
            <a:ext cx="7866061" cy="2937969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PERT stands for Program Evaluation and Review Technique. It is a project management tool used to plan, schedule, and control complex projects where activity times are uncertain.</a:t>
            </a:r>
          </a:p>
        </p:txBody>
      </p:sp>
    </p:spTree>
    <p:extLst>
      <p:ext uri="{BB962C8B-B14F-4D97-AF65-F5344CB8AC3E}">
        <p14:creationId xmlns:p14="http://schemas.microsoft.com/office/powerpoint/2010/main" val="25246201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2B5A76-6A24-B2E3-1102-1ECEA0399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CC82B2-5340-01E4-829A-90BB66A23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461BE37-0CA7-DEEF-86C2-58D1CF7678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2561771"/>
            <a:chOff x="0" y="0"/>
            <a:chExt cx="12192000" cy="256177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65B52EC-C9D8-A796-8B8C-AF50E0AE3D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C1EF57F-D36C-EA81-67B0-DF6E9424FD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50DA2DF-E405-D60A-31E7-550374698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2915" y="1040400"/>
            <a:ext cx="7866060" cy="707886"/>
          </a:xfrm>
        </p:spPr>
        <p:txBody>
          <a:bodyPr anchor="b">
            <a:normAutofit/>
          </a:bodyPr>
          <a:lstStyle/>
          <a:p>
            <a:r>
              <a:rPr lang="en-US" sz="4000" dirty="0"/>
              <a:t>Objective of PERT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2092112-D59C-21B7-AAD9-E59AE4954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0" y="2027156"/>
            <a:ext cx="12192000" cy="757168"/>
            <a:chOff x="0" y="2959818"/>
            <a:chExt cx="12192000" cy="75716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2F77D0A-1E4A-D6D6-6948-AD9D085CD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2BD59E-CF28-918F-5C02-CB2DF04AB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900AC-BFD0-A69E-DA4D-4DFB958C9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2914" y="3070719"/>
            <a:ext cx="7866061" cy="2937969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Break a big project into smaller tasks</a:t>
            </a:r>
          </a:p>
          <a:p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Estimate how long each task will take (even when unsure)</a:t>
            </a:r>
          </a:p>
          <a:p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Find the total project duration</a:t>
            </a:r>
          </a:p>
          <a:p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Identify the critical path (tasks that cannot be delayed)</a:t>
            </a:r>
          </a:p>
          <a:p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Manage uncertainty in large projects</a:t>
            </a:r>
          </a:p>
        </p:txBody>
      </p:sp>
    </p:spTree>
    <p:extLst>
      <p:ext uri="{BB962C8B-B14F-4D97-AF65-F5344CB8AC3E}">
        <p14:creationId xmlns:p14="http://schemas.microsoft.com/office/powerpoint/2010/main" val="3402133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559026-6E80-1640-AEA2-A66B261B4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D23DF8-1CFF-870C-C142-D7B23C03E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D419FB0-656F-4FE1-3DE4-CA0620A2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2561771"/>
            <a:chOff x="0" y="0"/>
            <a:chExt cx="12192000" cy="256177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C601C57-CB10-A664-3CF8-76288F9E4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AF8B77F-C220-051A-F166-569C3F8917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866DB8-5AA5-3962-3BD0-B46F53545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2915" y="1040400"/>
            <a:ext cx="7866060" cy="707886"/>
          </a:xfrm>
        </p:spPr>
        <p:txBody>
          <a:bodyPr anchor="b">
            <a:normAutofit/>
          </a:bodyPr>
          <a:lstStyle/>
          <a:p>
            <a:r>
              <a:rPr lang="en-US" sz="4000" dirty="0"/>
              <a:t>Key part pf PERT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CF1B79C-2503-5F95-851B-29FDF6347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0" y="2027156"/>
            <a:ext cx="12192000" cy="757168"/>
            <a:chOff x="0" y="2959818"/>
            <a:chExt cx="12192000" cy="75716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C21FDD1-B34D-6105-1538-43FF0216C8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C42EDD8-A129-06C8-1E19-DC95392B1A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0C9B3-EDEE-AD27-2953-1FA8A7C99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2915" y="2784325"/>
            <a:ext cx="7866060" cy="358439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Instead of one time estimate, PERT uses three estimates:</a:t>
            </a:r>
          </a:p>
          <a:p>
            <a:pPr lvl="1"/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O = Optimistic time (best case)</a:t>
            </a:r>
          </a:p>
          <a:p>
            <a:pPr lvl="1"/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M = Most likely time (normal case)</a:t>
            </a:r>
          </a:p>
          <a:p>
            <a:pPr lvl="1"/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P = Pessimistic time (worst case)</a:t>
            </a:r>
          </a:p>
          <a:p>
            <a:pPr lvl="1"/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Then it calculates a weighted average:  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		𝑇𝑒=𝑂+4𝑀+𝑃/ 6	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3548460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5C91D1-A1EA-813A-4E28-7A8613B9D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E1B8457-ECDC-38A3-33FD-012019F1BA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935D5D9-AE7B-899C-08A3-DE8FF3E34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2561771"/>
            <a:chOff x="0" y="0"/>
            <a:chExt cx="12192000" cy="256177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6BEC21D-99E9-83B3-B2C8-305B5EB12F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0784A85-C2B3-755A-1CE7-53D40C406E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E5BE69A-1AE2-5FDB-A58F-E4BCBEBC5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2915" y="529389"/>
            <a:ext cx="7866060" cy="1218897"/>
          </a:xfrm>
        </p:spPr>
        <p:txBody>
          <a:bodyPr anchor="b">
            <a:normAutofit/>
          </a:bodyPr>
          <a:lstStyle/>
          <a:p>
            <a:r>
              <a:rPr lang="en-US" sz="4000" dirty="0"/>
              <a:t>Factory 56 Standard – Sindelfingen Model: PERT Data Table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9EAB19B-1106-E182-6AD3-D32F1707E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0" y="2027156"/>
            <a:ext cx="12192000" cy="757168"/>
            <a:chOff x="0" y="2959818"/>
            <a:chExt cx="12192000" cy="75716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04478C-07ED-ED24-7A94-CA1E59CC49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2F43319-026C-4D2A-1455-1BA2B49FB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E8B10-6D74-5290-6C20-62A257CCD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2914" y="3070719"/>
            <a:ext cx="7866061" cy="29379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1">
                    <a:alpha val="80000"/>
                  </a:schemeClr>
                </a:solidFill>
              </a:rPr>
              <a:t>Planning → Construction → Technical → Digital → Integration → Finalization</a:t>
            </a:r>
          </a:p>
        </p:txBody>
      </p:sp>
    </p:spTree>
    <p:extLst>
      <p:ext uri="{BB962C8B-B14F-4D97-AF65-F5344CB8AC3E}">
        <p14:creationId xmlns:p14="http://schemas.microsoft.com/office/powerpoint/2010/main" val="27601336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EBF541-EC3F-0FE6-70E5-A32828269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4714483-7072-431F-9DBE-87F44E4D4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5892E1-F4A5-4991-AC52-4F417B14A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CF597F8-76AA-44FA-8E6A-06223B66C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6E12753-0A63-43EE-B28A-C989D033EA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26FA385-76DA-40E9-9257-AA3E07FF6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62D75CA-F374-4878-8106-3EA5E970D6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38667A5-74E3-4EFD-8C45-F48F47427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1512EE2-F4CC-4E18-9CDA-B92C111224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B99E503B-9B4D-4EE3-A50F-15AC374F61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E2683E3F-F855-4549-84F8-42064EC0F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FC90B1E-0223-4440-AF22-8F32F6F0C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2D2E879-0004-4D84-8137-1C09334038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BE75A2-0D83-4F8E-84CC-D3BCD565B1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90F7F49-1039-49EF-A9BD-153DB590B6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E85F508-9EA4-4B4D-8171-648670650E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832F3179-0CD5-40C8-9939-D8355006F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1CE155D-684B-4F5E-B835-C52765E31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4F84AF8-E1A7-41D4-A102-8F87CAE37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ED126F1-DB23-4314-B6C7-FE89E3C58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8ACB2B6F-8883-4A00-88DD-98CDDD46B8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3B9A2180-808A-4423-BB2B-6464B2900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8553E15-9A87-D0D5-16A1-1CE551364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8173" y="630936"/>
            <a:ext cx="7315200" cy="2702018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Factory 56 Standard – Sindelfingen Model: PERT Date Table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BB9BF9D-43B3-EE2B-797F-6D1E516A31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6945318"/>
              </p:ext>
            </p:extLst>
          </p:nvPr>
        </p:nvGraphicFramePr>
        <p:xfrm>
          <a:off x="735178" y="155759"/>
          <a:ext cx="10786265" cy="5761428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17921">
                  <a:extLst>
                    <a:ext uri="{9D8B030D-6E8A-4147-A177-3AD203B41FA5}">
                      <a16:colId xmlns:a16="http://schemas.microsoft.com/office/drawing/2014/main" val="1105052426"/>
                    </a:ext>
                  </a:extLst>
                </a:gridCol>
                <a:gridCol w="3302866">
                  <a:extLst>
                    <a:ext uri="{9D8B030D-6E8A-4147-A177-3AD203B41FA5}">
                      <a16:colId xmlns:a16="http://schemas.microsoft.com/office/drawing/2014/main" val="2261243686"/>
                    </a:ext>
                  </a:extLst>
                </a:gridCol>
                <a:gridCol w="1785407">
                  <a:extLst>
                    <a:ext uri="{9D8B030D-6E8A-4147-A177-3AD203B41FA5}">
                      <a16:colId xmlns:a16="http://schemas.microsoft.com/office/drawing/2014/main" val="2462708967"/>
                    </a:ext>
                  </a:extLst>
                </a:gridCol>
                <a:gridCol w="1785407">
                  <a:extLst>
                    <a:ext uri="{9D8B030D-6E8A-4147-A177-3AD203B41FA5}">
                      <a16:colId xmlns:a16="http://schemas.microsoft.com/office/drawing/2014/main" val="2158855996"/>
                    </a:ext>
                  </a:extLst>
                </a:gridCol>
                <a:gridCol w="678072">
                  <a:extLst>
                    <a:ext uri="{9D8B030D-6E8A-4147-A177-3AD203B41FA5}">
                      <a16:colId xmlns:a16="http://schemas.microsoft.com/office/drawing/2014/main" val="2481163576"/>
                    </a:ext>
                  </a:extLst>
                </a:gridCol>
                <a:gridCol w="814780">
                  <a:extLst>
                    <a:ext uri="{9D8B030D-6E8A-4147-A177-3AD203B41FA5}">
                      <a16:colId xmlns:a16="http://schemas.microsoft.com/office/drawing/2014/main" val="818380065"/>
                    </a:ext>
                  </a:extLst>
                </a:gridCol>
                <a:gridCol w="814780">
                  <a:extLst>
                    <a:ext uri="{9D8B030D-6E8A-4147-A177-3AD203B41FA5}">
                      <a16:colId xmlns:a16="http://schemas.microsoft.com/office/drawing/2014/main" val="140565072"/>
                    </a:ext>
                  </a:extLst>
                </a:gridCol>
                <a:gridCol w="987032">
                  <a:extLst>
                    <a:ext uri="{9D8B030D-6E8A-4147-A177-3AD203B41FA5}">
                      <a16:colId xmlns:a16="http://schemas.microsoft.com/office/drawing/2014/main" val="573178777"/>
                    </a:ext>
                  </a:extLst>
                </a:gridCol>
              </a:tblGrid>
              <a:tr h="4987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900">
                          <a:effectLst/>
                        </a:rPr>
                        <a:t>ID</a:t>
                      </a:r>
                    </a:p>
                  </a:txBody>
                  <a:tcPr marL="98430" marR="131240" marT="82025" marB="820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900">
                          <a:effectLst/>
                        </a:rPr>
                        <a:t>Activity</a:t>
                      </a:r>
                    </a:p>
                  </a:txBody>
                  <a:tcPr marL="131240" marR="131240" marT="82025" marB="820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900">
                          <a:effectLst/>
                        </a:rPr>
                        <a:t>Phase</a:t>
                      </a:r>
                    </a:p>
                  </a:txBody>
                  <a:tcPr marL="131240" marR="131240" marT="82025" marB="820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900">
                          <a:effectLst/>
                        </a:rPr>
                        <a:t>Predecessor</a:t>
                      </a:r>
                    </a:p>
                  </a:txBody>
                  <a:tcPr marL="131240" marR="131240" marT="82025" marB="820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900">
                          <a:effectLst/>
                        </a:rPr>
                        <a:t>O</a:t>
                      </a:r>
                    </a:p>
                  </a:txBody>
                  <a:tcPr marL="131240" marR="131240" marT="82025" marB="820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900">
                          <a:effectLst/>
                        </a:rPr>
                        <a:t>M</a:t>
                      </a:r>
                    </a:p>
                  </a:txBody>
                  <a:tcPr marL="131240" marR="131240" marT="82025" marB="820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900">
                          <a:effectLst/>
                        </a:rPr>
                        <a:t>P</a:t>
                      </a:r>
                    </a:p>
                  </a:txBody>
                  <a:tcPr marL="131240" marR="131240" marT="82025" marB="820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900">
                          <a:effectLst/>
                        </a:rPr>
                        <a:t>Te</a:t>
                      </a:r>
                    </a:p>
                  </a:txBody>
                  <a:tcPr marL="131240" marR="131240" marT="82025" marB="82025" anchor="ctr"/>
                </a:tc>
                <a:extLst>
                  <a:ext uri="{0D108BD9-81ED-4DB2-BD59-A6C34878D82A}">
                    <a16:rowId xmlns:a16="http://schemas.microsoft.com/office/drawing/2014/main" val="2167883585"/>
                  </a:ext>
                </a:extLst>
              </a:tr>
              <a:tr h="4987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A</a:t>
                      </a:r>
                    </a:p>
                  </a:txBody>
                  <a:tcPr marL="98430" marR="131240" marT="82025" marB="82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Feasibility &amp; Site Selection</a:t>
                      </a:r>
                    </a:p>
                  </a:txBody>
                  <a:tcPr marL="131240" marR="131240" marT="82025" marB="82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Planning</a:t>
                      </a:r>
                    </a:p>
                  </a:txBody>
                  <a:tcPr marL="131240" marR="131240" marT="82025" marB="82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-</a:t>
                      </a:r>
                    </a:p>
                  </a:txBody>
                  <a:tcPr marL="131240" marR="131240" marT="82025" marB="82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30</a:t>
                      </a:r>
                    </a:p>
                  </a:txBody>
                  <a:tcPr marL="131240" marR="131240" marT="82025" marB="82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45</a:t>
                      </a:r>
                    </a:p>
                  </a:txBody>
                  <a:tcPr marL="131240" marR="131240" marT="82025" marB="82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70</a:t>
                      </a:r>
                    </a:p>
                  </a:txBody>
                  <a:tcPr marL="131240" marR="131240" marT="82025" marB="82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46.7</a:t>
                      </a:r>
                    </a:p>
                  </a:txBody>
                  <a:tcPr marL="131240" marR="98430" marT="82025" marB="82025" anchor="ctr"/>
                </a:tc>
                <a:extLst>
                  <a:ext uri="{0D108BD9-81ED-4DB2-BD59-A6C34878D82A}">
                    <a16:rowId xmlns:a16="http://schemas.microsoft.com/office/drawing/2014/main" val="677877228"/>
                  </a:ext>
                </a:extLst>
              </a:tr>
              <a:tr h="794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B</a:t>
                      </a:r>
                    </a:p>
                  </a:txBody>
                  <a:tcPr marL="98430" marR="131240" marT="82025" marB="82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Regulatory &amp; Environmental Approvals</a:t>
                      </a:r>
                    </a:p>
                  </a:txBody>
                  <a:tcPr marL="131240" marR="131240" marT="82025" marB="82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Planning</a:t>
                      </a:r>
                    </a:p>
                  </a:txBody>
                  <a:tcPr marL="131240" marR="131240" marT="82025" marB="82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A</a:t>
                      </a:r>
                    </a:p>
                  </a:txBody>
                  <a:tcPr marL="131240" marR="131240" marT="82025" marB="82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40</a:t>
                      </a:r>
                    </a:p>
                  </a:txBody>
                  <a:tcPr marL="131240" marR="131240" marT="82025" marB="82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60</a:t>
                      </a:r>
                    </a:p>
                  </a:txBody>
                  <a:tcPr marL="131240" marR="131240" marT="82025" marB="82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90</a:t>
                      </a:r>
                    </a:p>
                  </a:txBody>
                  <a:tcPr marL="131240" marR="131240" marT="82025" marB="82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61.7</a:t>
                      </a:r>
                    </a:p>
                  </a:txBody>
                  <a:tcPr marL="131240" marR="98430" marT="82025" marB="82025" anchor="ctr"/>
                </a:tc>
                <a:extLst>
                  <a:ext uri="{0D108BD9-81ED-4DB2-BD59-A6C34878D82A}">
                    <a16:rowId xmlns:a16="http://schemas.microsoft.com/office/drawing/2014/main" val="827538977"/>
                  </a:ext>
                </a:extLst>
              </a:tr>
              <a:tr h="794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C</a:t>
                      </a:r>
                    </a:p>
                  </a:txBody>
                  <a:tcPr marL="98430" marR="131240" marT="82025" marB="82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Master Plant Layout &amp; Digital Mockup</a:t>
                      </a:r>
                    </a:p>
                  </a:txBody>
                  <a:tcPr marL="131240" marR="131240" marT="82025" marB="82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Planning</a:t>
                      </a:r>
                    </a:p>
                  </a:txBody>
                  <a:tcPr marL="131240" marR="131240" marT="82025" marB="82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A</a:t>
                      </a:r>
                    </a:p>
                  </a:txBody>
                  <a:tcPr marL="131240" marR="131240" marT="82025" marB="82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25</a:t>
                      </a:r>
                    </a:p>
                  </a:txBody>
                  <a:tcPr marL="131240" marR="131240" marT="82025" marB="82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40</a:t>
                      </a:r>
                    </a:p>
                  </a:txBody>
                  <a:tcPr marL="131240" marR="131240" marT="82025" marB="82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60</a:t>
                      </a:r>
                    </a:p>
                  </a:txBody>
                  <a:tcPr marL="131240" marR="131240" marT="82025" marB="82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40.8</a:t>
                      </a:r>
                    </a:p>
                  </a:txBody>
                  <a:tcPr marL="131240" marR="98430" marT="82025" marB="82025" anchor="ctr"/>
                </a:tc>
                <a:extLst>
                  <a:ext uri="{0D108BD9-81ED-4DB2-BD59-A6C34878D82A}">
                    <a16:rowId xmlns:a16="http://schemas.microsoft.com/office/drawing/2014/main" val="3185333964"/>
                  </a:ext>
                </a:extLst>
              </a:tr>
              <a:tr h="794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D</a:t>
                      </a:r>
                    </a:p>
                  </a:txBody>
                  <a:tcPr marL="98430" marR="131240" marT="82025" marB="82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Detailed Civil &amp; Structural Design</a:t>
                      </a:r>
                    </a:p>
                  </a:txBody>
                  <a:tcPr marL="131240" marR="131240" marT="82025" marB="82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Planning</a:t>
                      </a:r>
                    </a:p>
                  </a:txBody>
                  <a:tcPr marL="131240" marR="131240" marT="82025" marB="82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B, C</a:t>
                      </a:r>
                    </a:p>
                  </a:txBody>
                  <a:tcPr marL="131240" marR="131240" marT="82025" marB="82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50</a:t>
                      </a:r>
                    </a:p>
                  </a:txBody>
                  <a:tcPr marL="131240" marR="131240" marT="82025" marB="82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75</a:t>
                      </a:r>
                    </a:p>
                  </a:txBody>
                  <a:tcPr marL="131240" marR="131240" marT="82025" marB="82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110</a:t>
                      </a:r>
                    </a:p>
                  </a:txBody>
                  <a:tcPr marL="131240" marR="131240" marT="82025" marB="82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76.7</a:t>
                      </a:r>
                    </a:p>
                  </a:txBody>
                  <a:tcPr marL="131240" marR="98430" marT="82025" marB="82025" anchor="ctr"/>
                </a:tc>
                <a:extLst>
                  <a:ext uri="{0D108BD9-81ED-4DB2-BD59-A6C34878D82A}">
                    <a16:rowId xmlns:a16="http://schemas.microsoft.com/office/drawing/2014/main" val="2270102884"/>
                  </a:ext>
                </a:extLst>
              </a:tr>
              <a:tr h="794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E</a:t>
                      </a:r>
                    </a:p>
                  </a:txBody>
                  <a:tcPr marL="98430" marR="131240" marT="82025" marB="82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Site Preparation &amp; Groundworks</a:t>
                      </a:r>
                    </a:p>
                  </a:txBody>
                  <a:tcPr marL="131240" marR="131240" marT="82025" marB="82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Construction</a:t>
                      </a:r>
                    </a:p>
                  </a:txBody>
                  <a:tcPr marL="131240" marR="131240" marT="82025" marB="82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D</a:t>
                      </a:r>
                    </a:p>
                  </a:txBody>
                  <a:tcPr marL="131240" marR="131240" marT="82025" marB="82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60</a:t>
                      </a:r>
                    </a:p>
                  </a:txBody>
                  <a:tcPr marL="131240" marR="131240" marT="82025" marB="82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90</a:t>
                      </a:r>
                    </a:p>
                  </a:txBody>
                  <a:tcPr marL="131240" marR="131240" marT="82025" marB="82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130</a:t>
                      </a:r>
                    </a:p>
                  </a:txBody>
                  <a:tcPr marL="131240" marR="131240" marT="82025" marB="82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91.7</a:t>
                      </a:r>
                    </a:p>
                  </a:txBody>
                  <a:tcPr marL="131240" marR="98430" marT="82025" marB="82025" anchor="ctr"/>
                </a:tc>
                <a:extLst>
                  <a:ext uri="{0D108BD9-81ED-4DB2-BD59-A6C34878D82A}">
                    <a16:rowId xmlns:a16="http://schemas.microsoft.com/office/drawing/2014/main" val="2942031104"/>
                  </a:ext>
                </a:extLst>
              </a:tr>
              <a:tr h="794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F</a:t>
                      </a:r>
                    </a:p>
                  </a:txBody>
                  <a:tcPr marL="98430" marR="131240" marT="82025" marB="82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Foundation &amp; Structural Frame</a:t>
                      </a:r>
                    </a:p>
                  </a:txBody>
                  <a:tcPr marL="131240" marR="131240" marT="82025" marB="82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Construction</a:t>
                      </a:r>
                    </a:p>
                  </a:txBody>
                  <a:tcPr marL="131240" marR="131240" marT="82025" marB="82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E</a:t>
                      </a:r>
                    </a:p>
                  </a:txBody>
                  <a:tcPr marL="131240" marR="131240" marT="82025" marB="82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70</a:t>
                      </a:r>
                    </a:p>
                  </a:txBody>
                  <a:tcPr marL="131240" marR="131240" marT="82025" marB="82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100</a:t>
                      </a:r>
                    </a:p>
                  </a:txBody>
                  <a:tcPr marL="131240" marR="131240" marT="82025" marB="82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150</a:t>
                      </a:r>
                    </a:p>
                  </a:txBody>
                  <a:tcPr marL="131240" marR="131240" marT="82025" marB="82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103.3</a:t>
                      </a:r>
                    </a:p>
                  </a:txBody>
                  <a:tcPr marL="131240" marR="98430" marT="82025" marB="82025" anchor="ctr"/>
                </a:tc>
                <a:extLst>
                  <a:ext uri="{0D108BD9-81ED-4DB2-BD59-A6C34878D82A}">
                    <a16:rowId xmlns:a16="http://schemas.microsoft.com/office/drawing/2014/main" val="2595998097"/>
                  </a:ext>
                </a:extLst>
              </a:tr>
              <a:tr h="794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G</a:t>
                      </a:r>
                    </a:p>
                  </a:txBody>
                  <a:tcPr marL="98430" marR="131240" marT="82025" marB="82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Building Envelope (Carbon-Neutral)</a:t>
                      </a:r>
                    </a:p>
                  </a:txBody>
                  <a:tcPr marL="131240" marR="131240" marT="82025" marB="82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Construction</a:t>
                      </a:r>
                    </a:p>
                  </a:txBody>
                  <a:tcPr marL="131240" marR="131240" marT="82025" marB="82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F</a:t>
                      </a:r>
                    </a:p>
                  </a:txBody>
                  <a:tcPr marL="131240" marR="131240" marT="82025" marB="82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50</a:t>
                      </a:r>
                    </a:p>
                  </a:txBody>
                  <a:tcPr marL="131240" marR="131240" marT="82025" marB="82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80</a:t>
                      </a:r>
                    </a:p>
                  </a:txBody>
                  <a:tcPr marL="131240" marR="131240" marT="82025" marB="82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120</a:t>
                      </a:r>
                    </a:p>
                  </a:txBody>
                  <a:tcPr marL="131240" marR="131240" marT="82025" marB="820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81.7</a:t>
                      </a:r>
                    </a:p>
                  </a:txBody>
                  <a:tcPr marL="131240" marR="98430" marT="82025" marB="82025" anchor="ctr"/>
                </a:tc>
                <a:extLst>
                  <a:ext uri="{0D108BD9-81ED-4DB2-BD59-A6C34878D82A}">
                    <a16:rowId xmlns:a16="http://schemas.microsoft.com/office/drawing/2014/main" val="40262207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4755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DE9CA8-0E4C-1CCD-686A-159CFBA79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4714483-7072-431F-9DBE-87F44E4D4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5892E1-F4A5-4991-AC52-4F417B14A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CF597F8-76AA-44FA-8E6A-06223B66C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6E12753-0A63-43EE-B28A-C989D033EA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26FA385-76DA-40E9-9257-AA3E07FF6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62D75CA-F374-4878-8106-3EA5E970D6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38667A5-74E3-4EFD-8C45-F48F47427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1512EE2-F4CC-4E18-9CDA-B92C111224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B99E503B-9B4D-4EE3-A50F-15AC374F61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E2683E3F-F855-4549-84F8-42064EC0F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FC90B1E-0223-4440-AF22-8F32F6F0C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2D2E879-0004-4D84-8137-1C09334038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BE75A2-0D83-4F8E-84CC-D3BCD565B1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90F7F49-1039-49EF-A9BD-153DB590B6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E85F508-9EA4-4B4D-8171-648670650E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832F3179-0CD5-40C8-9939-D8355006F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1CE155D-684B-4F5E-B835-C52765E31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4F84AF8-E1A7-41D4-A102-8F87CAE37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ED126F1-DB23-4314-B6C7-FE89E3C58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8ACB2B6F-8883-4A00-88DD-98CDDD46B8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3B9A2180-808A-4423-BB2B-6464B2900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692DDD5-BEEC-1CFC-4743-6E9F999A7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8173" y="630936"/>
            <a:ext cx="7315200" cy="2702018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Factory 56 Standard – Sindelfingen Model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3B37FD6-0C6C-0BFC-8DCA-F39A27040D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331166"/>
              </p:ext>
            </p:extLst>
          </p:nvPr>
        </p:nvGraphicFramePr>
        <p:xfrm>
          <a:off x="1105733" y="29548"/>
          <a:ext cx="10045156" cy="601385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82288">
                  <a:extLst>
                    <a:ext uri="{9D8B030D-6E8A-4147-A177-3AD203B41FA5}">
                      <a16:colId xmlns:a16="http://schemas.microsoft.com/office/drawing/2014/main" val="3718549661"/>
                    </a:ext>
                  </a:extLst>
                </a:gridCol>
                <a:gridCol w="3595834">
                  <a:extLst>
                    <a:ext uri="{9D8B030D-6E8A-4147-A177-3AD203B41FA5}">
                      <a16:colId xmlns:a16="http://schemas.microsoft.com/office/drawing/2014/main" val="3713512191"/>
                    </a:ext>
                  </a:extLst>
                </a:gridCol>
                <a:gridCol w="1802057">
                  <a:extLst>
                    <a:ext uri="{9D8B030D-6E8A-4147-A177-3AD203B41FA5}">
                      <a16:colId xmlns:a16="http://schemas.microsoft.com/office/drawing/2014/main" val="713669952"/>
                    </a:ext>
                  </a:extLst>
                </a:gridCol>
                <a:gridCol w="739589">
                  <a:extLst>
                    <a:ext uri="{9D8B030D-6E8A-4147-A177-3AD203B41FA5}">
                      <a16:colId xmlns:a16="http://schemas.microsoft.com/office/drawing/2014/main" val="4095736126"/>
                    </a:ext>
                  </a:extLst>
                </a:gridCol>
                <a:gridCol w="684395">
                  <a:extLst>
                    <a:ext uri="{9D8B030D-6E8A-4147-A177-3AD203B41FA5}">
                      <a16:colId xmlns:a16="http://schemas.microsoft.com/office/drawing/2014/main" val="2408970787"/>
                    </a:ext>
                  </a:extLst>
                </a:gridCol>
                <a:gridCol w="822378">
                  <a:extLst>
                    <a:ext uri="{9D8B030D-6E8A-4147-A177-3AD203B41FA5}">
                      <a16:colId xmlns:a16="http://schemas.microsoft.com/office/drawing/2014/main" val="736078866"/>
                    </a:ext>
                  </a:extLst>
                </a:gridCol>
                <a:gridCol w="822378">
                  <a:extLst>
                    <a:ext uri="{9D8B030D-6E8A-4147-A177-3AD203B41FA5}">
                      <a16:colId xmlns:a16="http://schemas.microsoft.com/office/drawing/2014/main" val="2075840882"/>
                    </a:ext>
                  </a:extLst>
                </a:gridCol>
                <a:gridCol w="996237">
                  <a:extLst>
                    <a:ext uri="{9D8B030D-6E8A-4147-A177-3AD203B41FA5}">
                      <a16:colId xmlns:a16="http://schemas.microsoft.com/office/drawing/2014/main" val="1384659332"/>
                    </a:ext>
                  </a:extLst>
                </a:gridCol>
              </a:tblGrid>
              <a:tr h="496739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99348" marR="99348" marT="49674" marB="49674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99348" marR="99348" marT="49674" marB="49674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99348" marR="99348" marT="49674" marB="49674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99348" marR="99348" marT="49674" marB="49674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99348" marR="99348" marT="49674" marB="49674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99348" marR="99348" marT="49674" marB="49674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99348" marR="99348" marT="49674" marB="49674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99348" marR="99348" marT="49674" marB="49674"/>
                </a:tc>
                <a:extLst>
                  <a:ext uri="{0D108BD9-81ED-4DB2-BD59-A6C34878D82A}">
                    <a16:rowId xmlns:a16="http://schemas.microsoft.com/office/drawing/2014/main" val="801805131"/>
                  </a:ext>
                </a:extLst>
              </a:tr>
              <a:tr h="5033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H</a:t>
                      </a:r>
                    </a:p>
                  </a:txBody>
                  <a:tcPr marL="99348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Utility Tunnels &amp; Ducts</a:t>
                      </a:r>
                    </a:p>
                  </a:txBody>
                  <a:tcPr marL="132464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Construction</a:t>
                      </a:r>
                    </a:p>
                  </a:txBody>
                  <a:tcPr marL="132464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F</a:t>
                      </a:r>
                    </a:p>
                  </a:txBody>
                  <a:tcPr marL="132464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40</a:t>
                      </a:r>
                    </a:p>
                  </a:txBody>
                  <a:tcPr marL="132464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60</a:t>
                      </a:r>
                    </a:p>
                  </a:txBody>
                  <a:tcPr marL="132464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90</a:t>
                      </a:r>
                    </a:p>
                  </a:txBody>
                  <a:tcPr marL="132464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61.7</a:t>
                      </a:r>
                    </a:p>
                  </a:txBody>
                  <a:tcPr marL="132464" marR="99348" marT="82790" marB="82790" anchor="ctr"/>
                </a:tc>
                <a:extLst>
                  <a:ext uri="{0D108BD9-81ED-4DB2-BD59-A6C34878D82A}">
                    <a16:rowId xmlns:a16="http://schemas.microsoft.com/office/drawing/2014/main" val="2887493167"/>
                  </a:ext>
                </a:extLst>
              </a:tr>
              <a:tr h="801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I</a:t>
                      </a:r>
                    </a:p>
                  </a:txBody>
                  <a:tcPr marL="99348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HV Electrical &amp; Renewable Integration</a:t>
                      </a:r>
                    </a:p>
                  </a:txBody>
                  <a:tcPr marL="132464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Technical</a:t>
                      </a:r>
                    </a:p>
                  </a:txBody>
                  <a:tcPr marL="132464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G</a:t>
                      </a:r>
                    </a:p>
                  </a:txBody>
                  <a:tcPr marL="132464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60</a:t>
                      </a:r>
                    </a:p>
                  </a:txBody>
                  <a:tcPr marL="132464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85</a:t>
                      </a:r>
                    </a:p>
                  </a:txBody>
                  <a:tcPr marL="132464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120</a:t>
                      </a:r>
                    </a:p>
                  </a:txBody>
                  <a:tcPr marL="132464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86.7</a:t>
                      </a:r>
                    </a:p>
                  </a:txBody>
                  <a:tcPr marL="132464" marR="99348" marT="82790" marB="82790" anchor="ctr"/>
                </a:tc>
                <a:extLst>
                  <a:ext uri="{0D108BD9-81ED-4DB2-BD59-A6C34878D82A}">
                    <a16:rowId xmlns:a16="http://schemas.microsoft.com/office/drawing/2014/main" val="3109646442"/>
                  </a:ext>
                </a:extLst>
              </a:tr>
              <a:tr h="5033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J</a:t>
                      </a:r>
                    </a:p>
                  </a:txBody>
                  <a:tcPr marL="99348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HVAC &amp; Clean Air Systems</a:t>
                      </a:r>
                    </a:p>
                  </a:txBody>
                  <a:tcPr marL="132464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Technical</a:t>
                      </a:r>
                    </a:p>
                  </a:txBody>
                  <a:tcPr marL="132464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G</a:t>
                      </a:r>
                    </a:p>
                  </a:txBody>
                  <a:tcPr marL="132464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50</a:t>
                      </a:r>
                    </a:p>
                  </a:txBody>
                  <a:tcPr marL="132464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75</a:t>
                      </a:r>
                    </a:p>
                  </a:txBody>
                  <a:tcPr marL="132464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110</a:t>
                      </a:r>
                    </a:p>
                  </a:txBody>
                  <a:tcPr marL="132464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76.7</a:t>
                      </a:r>
                    </a:p>
                  </a:txBody>
                  <a:tcPr marL="132464" marR="99348" marT="82790" marB="82790" anchor="ctr"/>
                </a:tc>
                <a:extLst>
                  <a:ext uri="{0D108BD9-81ED-4DB2-BD59-A6C34878D82A}">
                    <a16:rowId xmlns:a16="http://schemas.microsoft.com/office/drawing/2014/main" val="2555823550"/>
                  </a:ext>
                </a:extLst>
              </a:tr>
              <a:tr h="801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K</a:t>
                      </a:r>
                    </a:p>
                  </a:txBody>
                  <a:tcPr marL="99348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Water &amp; Circular Economy Systems</a:t>
                      </a:r>
                    </a:p>
                  </a:txBody>
                  <a:tcPr marL="132464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Technical</a:t>
                      </a:r>
                    </a:p>
                  </a:txBody>
                  <a:tcPr marL="132464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H</a:t>
                      </a:r>
                    </a:p>
                  </a:txBody>
                  <a:tcPr marL="132464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40</a:t>
                      </a:r>
                    </a:p>
                  </a:txBody>
                  <a:tcPr marL="132464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65</a:t>
                      </a:r>
                    </a:p>
                  </a:txBody>
                  <a:tcPr marL="132464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95</a:t>
                      </a:r>
                    </a:p>
                  </a:txBody>
                  <a:tcPr marL="132464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65.8</a:t>
                      </a:r>
                    </a:p>
                  </a:txBody>
                  <a:tcPr marL="132464" marR="99348" marT="82790" marB="82790" anchor="ctr"/>
                </a:tc>
                <a:extLst>
                  <a:ext uri="{0D108BD9-81ED-4DB2-BD59-A6C34878D82A}">
                    <a16:rowId xmlns:a16="http://schemas.microsoft.com/office/drawing/2014/main" val="2685411447"/>
                  </a:ext>
                </a:extLst>
              </a:tr>
              <a:tr h="801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L</a:t>
                      </a:r>
                    </a:p>
                  </a:txBody>
                  <a:tcPr marL="99348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Robotic Assembly Line Installation</a:t>
                      </a:r>
                    </a:p>
                  </a:txBody>
                  <a:tcPr marL="132464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Technical</a:t>
                      </a:r>
                    </a:p>
                  </a:txBody>
                  <a:tcPr marL="132464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I, J</a:t>
                      </a:r>
                    </a:p>
                  </a:txBody>
                  <a:tcPr marL="132464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90</a:t>
                      </a:r>
                    </a:p>
                  </a:txBody>
                  <a:tcPr marL="132464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130</a:t>
                      </a:r>
                    </a:p>
                  </a:txBody>
                  <a:tcPr marL="132464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180</a:t>
                      </a:r>
                    </a:p>
                  </a:txBody>
                  <a:tcPr marL="132464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131.7</a:t>
                      </a:r>
                    </a:p>
                  </a:txBody>
                  <a:tcPr marL="132464" marR="99348" marT="82790" marB="82790" anchor="ctr"/>
                </a:tc>
                <a:extLst>
                  <a:ext uri="{0D108BD9-81ED-4DB2-BD59-A6C34878D82A}">
                    <a16:rowId xmlns:a16="http://schemas.microsoft.com/office/drawing/2014/main" val="3520070237"/>
                  </a:ext>
                </a:extLst>
              </a:tr>
              <a:tr h="5033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M</a:t>
                      </a:r>
                    </a:p>
                  </a:txBody>
                  <a:tcPr marL="99348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AGV &amp; Intralogistics Network</a:t>
                      </a:r>
                    </a:p>
                  </a:txBody>
                  <a:tcPr marL="132464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Technical</a:t>
                      </a:r>
                    </a:p>
                  </a:txBody>
                  <a:tcPr marL="132464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K</a:t>
                      </a:r>
                    </a:p>
                  </a:txBody>
                  <a:tcPr marL="132464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60</a:t>
                      </a:r>
                    </a:p>
                  </a:txBody>
                  <a:tcPr marL="132464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90</a:t>
                      </a:r>
                    </a:p>
                  </a:txBody>
                  <a:tcPr marL="132464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130</a:t>
                      </a:r>
                    </a:p>
                  </a:txBody>
                  <a:tcPr marL="132464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91.7</a:t>
                      </a:r>
                    </a:p>
                  </a:txBody>
                  <a:tcPr marL="132464" marR="99348" marT="82790" marB="82790" anchor="ctr"/>
                </a:tc>
                <a:extLst>
                  <a:ext uri="{0D108BD9-81ED-4DB2-BD59-A6C34878D82A}">
                    <a16:rowId xmlns:a16="http://schemas.microsoft.com/office/drawing/2014/main" val="3131674571"/>
                  </a:ext>
                </a:extLst>
              </a:tr>
              <a:tr h="801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N</a:t>
                      </a:r>
                    </a:p>
                  </a:txBody>
                  <a:tcPr marL="99348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Edge Computing &amp; 5G Infrastructure</a:t>
                      </a:r>
                    </a:p>
                  </a:txBody>
                  <a:tcPr marL="132464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Digital</a:t>
                      </a:r>
                    </a:p>
                  </a:txBody>
                  <a:tcPr marL="132464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G</a:t>
                      </a:r>
                    </a:p>
                  </a:txBody>
                  <a:tcPr marL="132464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50</a:t>
                      </a:r>
                    </a:p>
                  </a:txBody>
                  <a:tcPr marL="132464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70</a:t>
                      </a:r>
                    </a:p>
                  </a:txBody>
                  <a:tcPr marL="132464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100</a:t>
                      </a:r>
                    </a:p>
                  </a:txBody>
                  <a:tcPr marL="132464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71.7</a:t>
                      </a:r>
                    </a:p>
                  </a:txBody>
                  <a:tcPr marL="132464" marR="99348" marT="82790" marB="82790" anchor="ctr"/>
                </a:tc>
                <a:extLst>
                  <a:ext uri="{0D108BD9-81ED-4DB2-BD59-A6C34878D82A}">
                    <a16:rowId xmlns:a16="http://schemas.microsoft.com/office/drawing/2014/main" val="1778714620"/>
                  </a:ext>
                </a:extLst>
              </a:tr>
              <a:tr h="801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O</a:t>
                      </a:r>
                    </a:p>
                  </a:txBody>
                  <a:tcPr marL="99348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IoT Sensor Network Deployment</a:t>
                      </a:r>
                    </a:p>
                  </a:txBody>
                  <a:tcPr marL="132464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Digital</a:t>
                      </a:r>
                    </a:p>
                  </a:txBody>
                  <a:tcPr marL="132464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N</a:t>
                      </a:r>
                    </a:p>
                  </a:txBody>
                  <a:tcPr marL="132464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40</a:t>
                      </a:r>
                    </a:p>
                  </a:txBody>
                  <a:tcPr marL="132464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60</a:t>
                      </a:r>
                    </a:p>
                  </a:txBody>
                  <a:tcPr marL="132464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85</a:t>
                      </a:r>
                    </a:p>
                  </a:txBody>
                  <a:tcPr marL="132464" marR="132464" marT="82790" marB="827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</a:rPr>
                        <a:t>60.8</a:t>
                      </a:r>
                    </a:p>
                  </a:txBody>
                  <a:tcPr marL="132464" marR="99348" marT="82790" marB="82790" anchor="ctr"/>
                </a:tc>
                <a:extLst>
                  <a:ext uri="{0D108BD9-81ED-4DB2-BD59-A6C34878D82A}">
                    <a16:rowId xmlns:a16="http://schemas.microsoft.com/office/drawing/2014/main" val="619753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1041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1055EE-FFBD-4416-6C47-E915ACB00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4714483-7072-431F-9DBE-87F44E4D4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5892E1-F4A5-4991-AC52-4F417B14A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CF597F8-76AA-44FA-8E6A-06223B66C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6E12753-0A63-43EE-B28A-C989D033EA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26FA385-76DA-40E9-9257-AA3E07FF6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62D75CA-F374-4878-8106-3EA5E970D6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38667A5-74E3-4EFD-8C45-F48F47427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1512EE2-F4CC-4E18-9CDA-B92C111224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B99E503B-9B4D-4EE3-A50F-15AC374F61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E2683E3F-F855-4549-84F8-42064EC0F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FC90B1E-0223-4440-AF22-8F32F6F0C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2D2E879-0004-4D84-8137-1C09334038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BE75A2-0D83-4F8E-84CC-D3BCD565B1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90F7F49-1039-49EF-A9BD-153DB590B6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E85F508-9EA4-4B4D-8171-648670650E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832F3179-0CD5-40C8-9939-D8355006F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1CE155D-684B-4F5E-B835-C52765E31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4F84AF8-E1A7-41D4-A102-8F87CAE37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ED126F1-DB23-4314-B6C7-FE89E3C58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8ACB2B6F-8883-4A00-88DD-98CDDD46B8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3B9A2180-808A-4423-BB2B-6464B2900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1EF7DDD-E512-40AA-5F8A-261BE28E1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8173" y="630936"/>
            <a:ext cx="7315200" cy="2702018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Factory 56 Standard – Sindelfingen Model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A56CB0F-D522-8533-0350-1BB764810A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5299966"/>
              </p:ext>
            </p:extLst>
          </p:nvPr>
        </p:nvGraphicFramePr>
        <p:xfrm>
          <a:off x="735178" y="505859"/>
          <a:ext cx="10786266" cy="5061228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23274">
                  <a:extLst>
                    <a:ext uri="{9D8B030D-6E8A-4147-A177-3AD203B41FA5}">
                      <a16:colId xmlns:a16="http://schemas.microsoft.com/office/drawing/2014/main" val="3849003599"/>
                    </a:ext>
                  </a:extLst>
                </a:gridCol>
                <a:gridCol w="3685181">
                  <a:extLst>
                    <a:ext uri="{9D8B030D-6E8A-4147-A177-3AD203B41FA5}">
                      <a16:colId xmlns:a16="http://schemas.microsoft.com/office/drawing/2014/main" val="1314456125"/>
                    </a:ext>
                  </a:extLst>
                </a:gridCol>
                <a:gridCol w="1824437">
                  <a:extLst>
                    <a:ext uri="{9D8B030D-6E8A-4147-A177-3AD203B41FA5}">
                      <a16:colId xmlns:a16="http://schemas.microsoft.com/office/drawing/2014/main" val="1421402498"/>
                    </a:ext>
                  </a:extLst>
                </a:gridCol>
                <a:gridCol w="1007525">
                  <a:extLst>
                    <a:ext uri="{9D8B030D-6E8A-4147-A177-3AD203B41FA5}">
                      <a16:colId xmlns:a16="http://schemas.microsoft.com/office/drawing/2014/main" val="3474558328"/>
                    </a:ext>
                  </a:extLst>
                </a:gridCol>
                <a:gridCol w="750349">
                  <a:extLst>
                    <a:ext uri="{9D8B030D-6E8A-4147-A177-3AD203B41FA5}">
                      <a16:colId xmlns:a16="http://schemas.microsoft.com/office/drawing/2014/main" val="975484973"/>
                    </a:ext>
                  </a:extLst>
                </a:gridCol>
                <a:gridCol w="901629">
                  <a:extLst>
                    <a:ext uri="{9D8B030D-6E8A-4147-A177-3AD203B41FA5}">
                      <a16:colId xmlns:a16="http://schemas.microsoft.com/office/drawing/2014/main" val="1068299868"/>
                    </a:ext>
                  </a:extLst>
                </a:gridCol>
                <a:gridCol w="901629">
                  <a:extLst>
                    <a:ext uri="{9D8B030D-6E8A-4147-A177-3AD203B41FA5}">
                      <a16:colId xmlns:a16="http://schemas.microsoft.com/office/drawing/2014/main" val="1850768485"/>
                    </a:ext>
                  </a:extLst>
                </a:gridCol>
                <a:gridCol w="1092242">
                  <a:extLst>
                    <a:ext uri="{9D8B030D-6E8A-4147-A177-3AD203B41FA5}">
                      <a16:colId xmlns:a16="http://schemas.microsoft.com/office/drawing/2014/main" val="1375761203"/>
                    </a:ext>
                  </a:extLst>
                </a:gridCol>
              </a:tblGrid>
              <a:tr h="544608">
                <a:tc>
                  <a:txBody>
                    <a:bodyPr/>
                    <a:lstStyle/>
                    <a:p>
                      <a:endParaRPr lang="en-US" sz="2100"/>
                    </a:p>
                  </a:txBody>
                  <a:tcPr marL="108922" marR="108922" marT="54461" marB="54461"/>
                </a:tc>
                <a:tc>
                  <a:txBody>
                    <a:bodyPr/>
                    <a:lstStyle/>
                    <a:p>
                      <a:endParaRPr lang="en-US" sz="2100"/>
                    </a:p>
                  </a:txBody>
                  <a:tcPr marL="108922" marR="108922" marT="54461" marB="54461"/>
                </a:tc>
                <a:tc>
                  <a:txBody>
                    <a:bodyPr/>
                    <a:lstStyle/>
                    <a:p>
                      <a:endParaRPr lang="en-US" sz="2100"/>
                    </a:p>
                  </a:txBody>
                  <a:tcPr marL="108922" marR="108922" marT="54461" marB="54461"/>
                </a:tc>
                <a:tc>
                  <a:txBody>
                    <a:bodyPr/>
                    <a:lstStyle/>
                    <a:p>
                      <a:endParaRPr lang="en-US" sz="2100"/>
                    </a:p>
                  </a:txBody>
                  <a:tcPr marL="108922" marR="108922" marT="54461" marB="54461"/>
                </a:tc>
                <a:tc>
                  <a:txBody>
                    <a:bodyPr/>
                    <a:lstStyle/>
                    <a:p>
                      <a:endParaRPr lang="en-US" sz="2100"/>
                    </a:p>
                  </a:txBody>
                  <a:tcPr marL="108922" marR="108922" marT="54461" marB="54461"/>
                </a:tc>
                <a:tc>
                  <a:txBody>
                    <a:bodyPr/>
                    <a:lstStyle/>
                    <a:p>
                      <a:endParaRPr lang="en-US" sz="2100"/>
                    </a:p>
                  </a:txBody>
                  <a:tcPr marL="108922" marR="108922" marT="54461" marB="54461"/>
                </a:tc>
                <a:tc>
                  <a:txBody>
                    <a:bodyPr/>
                    <a:lstStyle/>
                    <a:p>
                      <a:endParaRPr lang="en-US" sz="2100"/>
                    </a:p>
                  </a:txBody>
                  <a:tcPr marL="108922" marR="108922" marT="54461" marB="54461"/>
                </a:tc>
                <a:tc>
                  <a:txBody>
                    <a:bodyPr/>
                    <a:lstStyle/>
                    <a:p>
                      <a:endParaRPr lang="en-US" sz="2100"/>
                    </a:p>
                  </a:txBody>
                  <a:tcPr marL="108922" marR="108922" marT="54461" marB="54461"/>
                </a:tc>
                <a:extLst>
                  <a:ext uri="{0D108BD9-81ED-4DB2-BD59-A6C34878D82A}">
                    <a16:rowId xmlns:a16="http://schemas.microsoft.com/office/drawing/2014/main" val="2062068582"/>
                  </a:ext>
                </a:extLst>
              </a:tr>
              <a:tr h="5518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P</a:t>
                      </a:r>
                    </a:p>
                  </a:txBody>
                  <a:tcPr marL="108922" marR="145229" marT="90768" marB="90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Digital Twin Platform Setup</a:t>
                      </a:r>
                    </a:p>
                  </a:txBody>
                  <a:tcPr marL="145229" marR="145229" marT="90768" marB="90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Digital</a:t>
                      </a:r>
                    </a:p>
                  </a:txBody>
                  <a:tcPr marL="145229" marR="145229" marT="90768" marB="90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O</a:t>
                      </a:r>
                    </a:p>
                  </a:txBody>
                  <a:tcPr marL="145229" marR="145229" marT="90768" marB="90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70</a:t>
                      </a:r>
                    </a:p>
                  </a:txBody>
                  <a:tcPr marL="145229" marR="145229" marT="90768" marB="90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100</a:t>
                      </a:r>
                    </a:p>
                  </a:txBody>
                  <a:tcPr marL="145229" marR="145229" marT="90768" marB="90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140</a:t>
                      </a:r>
                    </a:p>
                  </a:txBody>
                  <a:tcPr marL="145229" marR="145229" marT="90768" marB="90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101.7</a:t>
                      </a:r>
                    </a:p>
                  </a:txBody>
                  <a:tcPr marL="145229" marR="108922" marT="90768" marB="90768" anchor="ctr"/>
                </a:tc>
                <a:extLst>
                  <a:ext uri="{0D108BD9-81ED-4DB2-BD59-A6C34878D82A}">
                    <a16:rowId xmlns:a16="http://schemas.microsoft.com/office/drawing/2014/main" val="2196682047"/>
                  </a:ext>
                </a:extLst>
              </a:tr>
              <a:tr h="8786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Q</a:t>
                      </a:r>
                    </a:p>
                  </a:txBody>
                  <a:tcPr marL="108922" marR="145229" marT="90768" marB="90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AI Quality &amp; Predictive Maintenance</a:t>
                      </a:r>
                    </a:p>
                  </a:txBody>
                  <a:tcPr marL="145229" marR="145229" marT="90768" marB="90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Digital</a:t>
                      </a:r>
                    </a:p>
                  </a:txBody>
                  <a:tcPr marL="145229" marR="145229" marT="90768" marB="90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P</a:t>
                      </a:r>
                    </a:p>
                  </a:txBody>
                  <a:tcPr marL="145229" marR="145229" marT="90768" marB="90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60</a:t>
                      </a:r>
                    </a:p>
                  </a:txBody>
                  <a:tcPr marL="145229" marR="145229" marT="90768" marB="90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90</a:t>
                      </a:r>
                    </a:p>
                  </a:txBody>
                  <a:tcPr marL="145229" marR="145229" marT="90768" marB="90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130</a:t>
                      </a:r>
                    </a:p>
                  </a:txBody>
                  <a:tcPr marL="145229" marR="145229" marT="90768" marB="90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91.7</a:t>
                      </a:r>
                    </a:p>
                  </a:txBody>
                  <a:tcPr marL="145229" marR="108922" marT="90768" marB="90768" anchor="ctr"/>
                </a:tc>
                <a:extLst>
                  <a:ext uri="{0D108BD9-81ED-4DB2-BD59-A6C34878D82A}">
                    <a16:rowId xmlns:a16="http://schemas.microsoft.com/office/drawing/2014/main" val="3929763701"/>
                  </a:ext>
                </a:extLst>
              </a:tr>
              <a:tr h="5518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R</a:t>
                      </a:r>
                    </a:p>
                  </a:txBody>
                  <a:tcPr marL="108922" marR="145229" marT="90768" marB="90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MES &amp; ERP Integration</a:t>
                      </a:r>
                    </a:p>
                  </a:txBody>
                  <a:tcPr marL="145229" marR="145229" marT="90768" marB="90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Digital</a:t>
                      </a:r>
                    </a:p>
                  </a:txBody>
                  <a:tcPr marL="145229" marR="145229" marT="90768" marB="90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L, M</a:t>
                      </a:r>
                    </a:p>
                  </a:txBody>
                  <a:tcPr marL="145229" marR="145229" marT="90768" marB="90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50</a:t>
                      </a:r>
                    </a:p>
                  </a:txBody>
                  <a:tcPr marL="145229" marR="145229" marT="90768" marB="90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80</a:t>
                      </a:r>
                    </a:p>
                  </a:txBody>
                  <a:tcPr marL="145229" marR="145229" marT="90768" marB="90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120</a:t>
                      </a:r>
                    </a:p>
                  </a:txBody>
                  <a:tcPr marL="145229" marR="145229" marT="90768" marB="90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81.7</a:t>
                      </a:r>
                    </a:p>
                  </a:txBody>
                  <a:tcPr marL="145229" marR="108922" marT="90768" marB="90768" anchor="ctr"/>
                </a:tc>
                <a:extLst>
                  <a:ext uri="{0D108BD9-81ED-4DB2-BD59-A6C34878D82A}">
                    <a16:rowId xmlns:a16="http://schemas.microsoft.com/office/drawing/2014/main" val="1078828692"/>
                  </a:ext>
                </a:extLst>
              </a:tr>
              <a:tr h="5518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S</a:t>
                      </a:r>
                    </a:p>
                  </a:txBody>
                  <a:tcPr marL="108922" marR="145229" marT="90768" marB="90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System Integration Testing</a:t>
                      </a:r>
                    </a:p>
                  </a:txBody>
                  <a:tcPr marL="145229" marR="145229" marT="90768" marB="90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Integration</a:t>
                      </a:r>
                    </a:p>
                  </a:txBody>
                  <a:tcPr marL="145229" marR="145229" marT="90768" marB="90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R, Q</a:t>
                      </a:r>
                    </a:p>
                  </a:txBody>
                  <a:tcPr marL="145229" marR="145229" marT="90768" marB="90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60</a:t>
                      </a:r>
                    </a:p>
                  </a:txBody>
                  <a:tcPr marL="145229" marR="145229" marT="90768" marB="90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90</a:t>
                      </a:r>
                    </a:p>
                  </a:txBody>
                  <a:tcPr marL="145229" marR="145229" marT="90768" marB="90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130</a:t>
                      </a:r>
                    </a:p>
                  </a:txBody>
                  <a:tcPr marL="145229" marR="145229" marT="90768" marB="90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91.7</a:t>
                      </a:r>
                    </a:p>
                  </a:txBody>
                  <a:tcPr marL="145229" marR="108922" marT="90768" marB="90768" anchor="ctr"/>
                </a:tc>
                <a:extLst>
                  <a:ext uri="{0D108BD9-81ED-4DB2-BD59-A6C34878D82A}">
                    <a16:rowId xmlns:a16="http://schemas.microsoft.com/office/drawing/2014/main" val="957424308"/>
                  </a:ext>
                </a:extLst>
              </a:tr>
              <a:tr h="5518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T</a:t>
                      </a:r>
                    </a:p>
                  </a:txBody>
                  <a:tcPr marL="108922" marR="145229" marT="90768" marB="90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Trial Production (Pilot Run)</a:t>
                      </a:r>
                    </a:p>
                  </a:txBody>
                  <a:tcPr marL="145229" marR="145229" marT="90768" marB="90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Integration</a:t>
                      </a:r>
                    </a:p>
                  </a:txBody>
                  <a:tcPr marL="145229" marR="145229" marT="90768" marB="90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S</a:t>
                      </a:r>
                    </a:p>
                  </a:txBody>
                  <a:tcPr marL="145229" marR="145229" marT="90768" marB="90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40</a:t>
                      </a:r>
                    </a:p>
                  </a:txBody>
                  <a:tcPr marL="145229" marR="145229" marT="90768" marB="90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60</a:t>
                      </a:r>
                    </a:p>
                  </a:txBody>
                  <a:tcPr marL="145229" marR="145229" marT="90768" marB="90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90</a:t>
                      </a:r>
                    </a:p>
                  </a:txBody>
                  <a:tcPr marL="145229" marR="145229" marT="90768" marB="90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61.7</a:t>
                      </a:r>
                    </a:p>
                  </a:txBody>
                  <a:tcPr marL="145229" marR="108922" marT="90768" marB="90768" anchor="ctr"/>
                </a:tc>
                <a:extLst>
                  <a:ext uri="{0D108BD9-81ED-4DB2-BD59-A6C34878D82A}">
                    <a16:rowId xmlns:a16="http://schemas.microsoft.com/office/drawing/2014/main" val="2335201709"/>
                  </a:ext>
                </a:extLst>
              </a:tr>
              <a:tr h="8786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U</a:t>
                      </a:r>
                    </a:p>
                  </a:txBody>
                  <a:tcPr marL="108922" marR="145229" marT="90768" marB="90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Staff Training &amp; Digital Ops Handover</a:t>
                      </a:r>
                    </a:p>
                  </a:txBody>
                  <a:tcPr marL="145229" marR="145229" marT="90768" marB="90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Integration</a:t>
                      </a:r>
                    </a:p>
                  </a:txBody>
                  <a:tcPr marL="145229" marR="145229" marT="90768" marB="90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S</a:t>
                      </a:r>
                    </a:p>
                  </a:txBody>
                  <a:tcPr marL="145229" marR="145229" marT="90768" marB="90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30</a:t>
                      </a:r>
                    </a:p>
                  </a:txBody>
                  <a:tcPr marL="145229" marR="145229" marT="90768" marB="90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50</a:t>
                      </a:r>
                    </a:p>
                  </a:txBody>
                  <a:tcPr marL="145229" marR="145229" marT="90768" marB="90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80</a:t>
                      </a:r>
                    </a:p>
                  </a:txBody>
                  <a:tcPr marL="145229" marR="145229" marT="90768" marB="90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51.7</a:t>
                      </a:r>
                    </a:p>
                  </a:txBody>
                  <a:tcPr marL="145229" marR="108922" marT="90768" marB="90768" anchor="ctr"/>
                </a:tc>
                <a:extLst>
                  <a:ext uri="{0D108BD9-81ED-4DB2-BD59-A6C34878D82A}">
                    <a16:rowId xmlns:a16="http://schemas.microsoft.com/office/drawing/2014/main" val="3642632746"/>
                  </a:ext>
                </a:extLst>
              </a:tr>
              <a:tr h="5518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V</a:t>
                      </a:r>
                    </a:p>
                  </a:txBody>
                  <a:tcPr marL="108922" marR="145229" marT="90768" marB="90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Final Commissioning</a:t>
                      </a:r>
                    </a:p>
                  </a:txBody>
                  <a:tcPr marL="145229" marR="145229" marT="90768" marB="90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Finalization</a:t>
                      </a:r>
                    </a:p>
                  </a:txBody>
                  <a:tcPr marL="145229" marR="145229" marT="90768" marB="90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T, U</a:t>
                      </a:r>
                    </a:p>
                  </a:txBody>
                  <a:tcPr marL="145229" marR="145229" marT="90768" marB="90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25</a:t>
                      </a:r>
                    </a:p>
                  </a:txBody>
                  <a:tcPr marL="145229" marR="145229" marT="90768" marB="90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40</a:t>
                      </a:r>
                    </a:p>
                  </a:txBody>
                  <a:tcPr marL="145229" marR="145229" marT="90768" marB="90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70</a:t>
                      </a:r>
                    </a:p>
                  </a:txBody>
                  <a:tcPr marL="145229" marR="145229" marT="90768" marB="90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dirty="0">
                          <a:effectLst/>
                        </a:rPr>
                        <a:t>42.5</a:t>
                      </a:r>
                    </a:p>
                  </a:txBody>
                  <a:tcPr marL="145229" marR="108922" marT="90768" marB="90768" anchor="ctr"/>
                </a:tc>
                <a:extLst>
                  <a:ext uri="{0D108BD9-81ED-4DB2-BD59-A6C34878D82A}">
                    <a16:rowId xmlns:a16="http://schemas.microsoft.com/office/drawing/2014/main" val="812881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7535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company">
            <a:extLst>
              <a:ext uri="{FF2B5EF4-FFF2-40B4-BE49-F238E27FC236}">
                <a16:creationId xmlns:a16="http://schemas.microsoft.com/office/drawing/2014/main" id="{0DC6DCA8-0E36-0110-EA84-1046BF9611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547641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AE2921-20E0-E735-B898-630E10A96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171A4E3-137B-A7A4-8F0A-2DBF9C05E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5EAA99F-8FA9-B1E4-C18D-3C59226B4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2561771"/>
            <a:chOff x="0" y="0"/>
            <a:chExt cx="12192000" cy="256177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21980F4-2C80-070B-DD2F-F98EF5353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40ABC81-0EBC-1682-AAA0-16EF9F090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A334213-9519-E184-6B20-B91E2F1D6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2915" y="529389"/>
            <a:ext cx="7866060" cy="1218897"/>
          </a:xfrm>
        </p:spPr>
        <p:txBody>
          <a:bodyPr anchor="b">
            <a:normAutofit/>
          </a:bodyPr>
          <a:lstStyle/>
          <a:p>
            <a:r>
              <a:rPr lang="en-US" sz="4000" dirty="0"/>
              <a:t>Critical Path (Total Expected Duration)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85F565B-B76B-044A-F44D-87FB30F50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0" y="2027156"/>
            <a:ext cx="12192000" cy="757168"/>
            <a:chOff x="0" y="2959818"/>
            <a:chExt cx="12192000" cy="75716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BA0E3A3-41FC-94FC-8FBF-005D2A34B1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2F3EB08-A65C-AB03-3663-F4C9AA846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C884D-4C6B-2BBE-18FB-3B4597F49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2914" y="3070719"/>
            <a:ext cx="7866061" cy="2937969"/>
          </a:xfrm>
        </p:spPr>
        <p:txBody>
          <a:bodyPr>
            <a:normAutofit fontScale="77500" lnSpcReduction="20000"/>
          </a:bodyPr>
          <a:lstStyle/>
          <a:p>
            <a:r>
              <a:rPr lang="en-US" sz="4000" dirty="0">
                <a:solidFill>
                  <a:schemeClr val="tx1">
                    <a:alpha val="80000"/>
                  </a:schemeClr>
                </a:solidFill>
              </a:rPr>
              <a:t>A → B → D → E → F → G → I → L → R → S → T → V</a:t>
            </a:r>
          </a:p>
          <a:p>
            <a:endParaRPr lang="en-US" sz="4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4000" dirty="0">
                <a:solidFill>
                  <a:schemeClr val="tx1">
                    <a:alpha val="80000"/>
                  </a:schemeClr>
                </a:solidFill>
              </a:rPr>
              <a:t>Total </a:t>
            </a:r>
            <a:r>
              <a:rPr lang="en-US" sz="4000" dirty="0" err="1">
                <a:solidFill>
                  <a:schemeClr val="tx1">
                    <a:alpha val="80000"/>
                  </a:schemeClr>
                </a:solidFill>
              </a:rPr>
              <a:t>Te</a:t>
            </a:r>
            <a:r>
              <a:rPr lang="en-US" sz="4000" dirty="0">
                <a:solidFill>
                  <a:schemeClr val="tx1">
                    <a:alpha val="80000"/>
                  </a:schemeClr>
                </a:solidFill>
              </a:rPr>
              <a:t> =</a:t>
            </a:r>
          </a:p>
          <a:p>
            <a:pPr marL="457200" lvl="1" indent="0">
              <a:buNone/>
            </a:pPr>
            <a:r>
              <a:rPr lang="en-US" sz="3600" dirty="0">
                <a:solidFill>
                  <a:schemeClr val="tx1">
                    <a:alpha val="80000"/>
                  </a:schemeClr>
                </a:solidFill>
              </a:rPr>
              <a:t>46.7 + 61.7 + 76.7 + 91.7 + 103.3 + 81.7 + 86.7 + 131.7 + 81.7 + 91.7 + 61.7 + 42.5</a:t>
            </a:r>
          </a:p>
          <a:p>
            <a:pPr marL="457200" lvl="1" indent="0">
              <a:buNone/>
            </a:pPr>
            <a:r>
              <a:rPr lang="en-US" sz="3600" dirty="0">
                <a:solidFill>
                  <a:schemeClr val="tx1">
                    <a:alpha val="80000"/>
                  </a:schemeClr>
                </a:solidFill>
              </a:rPr>
              <a:t>= ~785 days (~2.18 years)</a:t>
            </a:r>
          </a:p>
        </p:txBody>
      </p:sp>
    </p:spTree>
    <p:extLst>
      <p:ext uri="{BB962C8B-B14F-4D97-AF65-F5344CB8AC3E}">
        <p14:creationId xmlns:p14="http://schemas.microsoft.com/office/powerpoint/2010/main" val="34673717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67515F-6F56-BB1F-C3E2-71F087E83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4224278-589B-65D4-4172-B80986240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4649AC3-4FBD-2E08-7775-F8B83F6F0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2561771"/>
            <a:chOff x="0" y="0"/>
            <a:chExt cx="12192000" cy="256177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CDC915C-2583-E6C8-0549-7653EB7AD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A5ED002-2A8C-3616-34E1-084EF451E0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5AA01F-64E2-5DE1-D0E6-33914FD9C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2915" y="529389"/>
            <a:ext cx="7866060" cy="1218897"/>
          </a:xfrm>
        </p:spPr>
        <p:txBody>
          <a:bodyPr anchor="b">
            <a:normAutofit/>
          </a:bodyPr>
          <a:lstStyle/>
          <a:p>
            <a:r>
              <a:rPr lang="en-US" sz="4000" dirty="0"/>
              <a:t>What Makes This “Factory 56 Level”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0E4B2A7-2075-5FCA-C19A-2EDF14A23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0" y="2027156"/>
            <a:ext cx="12192000" cy="757168"/>
            <a:chOff x="0" y="2959818"/>
            <a:chExt cx="12192000" cy="75716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D0DECDB-1BBA-F7D8-DF6C-BF975E80A8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0A31A3D-27C3-1CD0-0F8F-3F610E96C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C4B84CDC-975E-9330-B739-F4249E43D2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12913" y="3015963"/>
            <a:ext cx="6693668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Heavy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digital dependency (L → P → R)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Parallelization: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Robotics (L)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Logistics (M)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Energy (N)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factory complexity driven by: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Digital Twin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systems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Autonomous logistics (AGVs)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3289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FC67AF-3377-9939-C48A-7B76516F0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B8CCBC-E23D-F7A1-703E-7E32418FB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BD493DB-2E9A-EE1C-EDEC-0E53639E9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2561771"/>
            <a:chOff x="0" y="0"/>
            <a:chExt cx="12192000" cy="256177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6F174C4-345B-D235-EECC-2EC45B6E3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2CACA8A-9587-1C37-EDE4-459CF00E6F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52112F3-9361-74FD-91CA-3DF9999C3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2915" y="529389"/>
            <a:ext cx="7866060" cy="1218897"/>
          </a:xfrm>
        </p:spPr>
        <p:txBody>
          <a:bodyPr anchor="b">
            <a:normAutofit/>
          </a:bodyPr>
          <a:lstStyle/>
          <a:p>
            <a:r>
              <a:rPr lang="en-US" sz="4000" dirty="0"/>
              <a:t>Comparison between PERT and CPM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37CA525-B176-E112-05E2-DE86ED93F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0" y="2027156"/>
            <a:ext cx="12192000" cy="757168"/>
            <a:chOff x="0" y="2959818"/>
            <a:chExt cx="12192000" cy="75716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11E2D42-628B-3415-BDE0-6DCF3E5E8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8D77EED-B511-9D79-EE21-F41F80421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FFFAB-8FCE-5324-681C-4F9B92028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2914" y="3070719"/>
            <a:ext cx="7866061" cy="2937969"/>
          </a:xfrm>
        </p:spPr>
        <p:txBody>
          <a:bodyPr>
            <a:normAutofit fontScale="77500" lnSpcReduction="20000"/>
          </a:bodyPr>
          <a:lstStyle/>
          <a:p>
            <a:r>
              <a:rPr lang="en-US" sz="4000" dirty="0">
                <a:solidFill>
                  <a:schemeClr val="tx1">
                    <a:alpha val="80000"/>
                  </a:schemeClr>
                </a:solidFill>
              </a:rPr>
              <a:t>In CPM we use:</a:t>
            </a:r>
          </a:p>
          <a:p>
            <a:pPr lvl="1"/>
            <a:r>
              <a:rPr lang="en-US" sz="3600" dirty="0">
                <a:solidFill>
                  <a:schemeClr val="tx1">
                    <a:alpha val="80000"/>
                  </a:schemeClr>
                </a:solidFill>
              </a:rPr>
              <a:t>ES (Earliest Start)</a:t>
            </a:r>
          </a:p>
          <a:p>
            <a:pPr lvl="1"/>
            <a:r>
              <a:rPr lang="en-US" sz="3600" dirty="0">
                <a:solidFill>
                  <a:schemeClr val="tx1">
                    <a:alpha val="80000"/>
                  </a:schemeClr>
                </a:solidFill>
              </a:rPr>
              <a:t>EF (Earliest Finish)</a:t>
            </a:r>
          </a:p>
          <a:p>
            <a:pPr lvl="1"/>
            <a:r>
              <a:rPr lang="en-US" sz="3600" dirty="0">
                <a:solidFill>
                  <a:schemeClr val="tx1">
                    <a:alpha val="80000"/>
                  </a:schemeClr>
                </a:solidFill>
              </a:rPr>
              <a:t>LS (Latest Start)</a:t>
            </a:r>
          </a:p>
          <a:p>
            <a:pPr lvl="1"/>
            <a:r>
              <a:rPr lang="en-US" sz="3600" dirty="0">
                <a:solidFill>
                  <a:schemeClr val="tx1">
                    <a:alpha val="80000"/>
                  </a:schemeClr>
                </a:solidFill>
              </a:rPr>
              <a:t>LF (Latest Finish)</a:t>
            </a:r>
          </a:p>
          <a:p>
            <a:pPr lvl="1"/>
            <a:r>
              <a:rPr lang="en-US" sz="3600" dirty="0">
                <a:solidFill>
                  <a:schemeClr val="tx1">
                    <a:alpha val="80000"/>
                  </a:schemeClr>
                </a:solidFill>
              </a:rPr>
              <a:t>Slack (Float)</a:t>
            </a:r>
          </a:p>
          <a:p>
            <a:pPr lvl="1"/>
            <a:r>
              <a:rPr lang="en-US" sz="3600" dirty="0">
                <a:solidFill>
                  <a:schemeClr val="tx1">
                    <a:alpha val="80000"/>
                  </a:schemeClr>
                </a:solidFill>
              </a:rPr>
              <a:t>Final Critical Path (confirmed numerically)</a:t>
            </a:r>
          </a:p>
        </p:txBody>
      </p:sp>
    </p:spTree>
    <p:extLst>
      <p:ext uri="{BB962C8B-B14F-4D97-AF65-F5344CB8AC3E}">
        <p14:creationId xmlns:p14="http://schemas.microsoft.com/office/powerpoint/2010/main" val="16862798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3F5D4C-D9A0-E2BF-C5F2-B7A40AED7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16048E3-0EAF-CE00-A935-568581E66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1DF06AC-C2DF-565E-16CD-743CCD199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2561771"/>
            <a:chOff x="0" y="0"/>
            <a:chExt cx="12192000" cy="256177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67EE459-C9A4-0A76-02E0-11F07C86D2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4D9B7A0-781C-5D59-09E7-E3F79FE8DC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4A5960E-A4FD-888D-359A-2E5179B0F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2915" y="529389"/>
            <a:ext cx="7866060" cy="1218897"/>
          </a:xfrm>
        </p:spPr>
        <p:txBody>
          <a:bodyPr anchor="b">
            <a:normAutofit/>
          </a:bodyPr>
          <a:lstStyle/>
          <a:p>
            <a:r>
              <a:rPr lang="en-US" sz="4000" dirty="0"/>
              <a:t>CPM method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7813D99-0807-77E9-F1C1-B0E89317E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0" y="2027156"/>
            <a:ext cx="12192000" cy="757168"/>
            <a:chOff x="0" y="2959818"/>
            <a:chExt cx="12192000" cy="75716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DBFD774-29EF-94DC-729E-7AC57FCC60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E56BCDF-2AA3-9C5F-1CDB-6550C16435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F8AEC-8A82-2FB0-AD0A-AC9C06DAC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2914" y="3070719"/>
            <a:ext cx="7866061" cy="2937969"/>
          </a:xfrm>
        </p:spPr>
        <p:txBody>
          <a:bodyPr>
            <a:normAutofit fontScale="85000" lnSpcReduction="20000"/>
          </a:bodyPr>
          <a:lstStyle/>
          <a:p>
            <a:r>
              <a:rPr lang="en-US" sz="4000" dirty="0">
                <a:solidFill>
                  <a:schemeClr val="tx1">
                    <a:alpha val="80000"/>
                  </a:schemeClr>
                </a:solidFill>
              </a:rPr>
              <a:t>EF = ES + </a:t>
            </a:r>
            <a:r>
              <a:rPr lang="en-US" sz="4000" dirty="0" err="1">
                <a:solidFill>
                  <a:schemeClr val="tx1">
                    <a:alpha val="80000"/>
                  </a:schemeClr>
                </a:solidFill>
              </a:rPr>
              <a:t>Te</a:t>
            </a:r>
            <a:endParaRPr lang="en-US" sz="4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4000" dirty="0">
                <a:solidFill>
                  <a:schemeClr val="tx1">
                    <a:alpha val="80000"/>
                  </a:schemeClr>
                </a:solidFill>
              </a:rPr>
              <a:t>LS = LF − </a:t>
            </a:r>
            <a:r>
              <a:rPr lang="en-US" sz="4000" dirty="0" err="1">
                <a:solidFill>
                  <a:schemeClr val="tx1">
                    <a:alpha val="80000"/>
                  </a:schemeClr>
                </a:solidFill>
              </a:rPr>
              <a:t>Te</a:t>
            </a:r>
            <a:endParaRPr lang="en-US" sz="4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4000" dirty="0">
                <a:solidFill>
                  <a:schemeClr val="tx1">
                    <a:alpha val="80000"/>
                  </a:schemeClr>
                </a:solidFill>
              </a:rPr>
              <a:t>Slack = LS − ES</a:t>
            </a:r>
          </a:p>
          <a:p>
            <a:r>
              <a:rPr lang="en-US" sz="4000" dirty="0">
                <a:solidFill>
                  <a:schemeClr val="tx1">
                    <a:alpha val="80000"/>
                  </a:schemeClr>
                </a:solidFill>
              </a:rPr>
              <a:t>Total time 794.5 days (~2.18 years)</a:t>
            </a:r>
          </a:p>
          <a:p>
            <a:r>
              <a:rPr lang="en-US" sz="3600" dirty="0">
                <a:solidFill>
                  <a:schemeClr val="tx1">
                    <a:alpha val="80000"/>
                  </a:schemeClr>
                </a:solidFill>
              </a:rPr>
              <a:t>CONFIRMED CRITICAL PATH (ZERO SLACK) A → B → C → G → H → I → J → L → P → R → S → U</a:t>
            </a:r>
          </a:p>
        </p:txBody>
      </p:sp>
    </p:spTree>
    <p:extLst>
      <p:ext uri="{BB962C8B-B14F-4D97-AF65-F5344CB8AC3E}">
        <p14:creationId xmlns:p14="http://schemas.microsoft.com/office/powerpoint/2010/main" val="26317756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2B330F-719A-527C-93DA-943033536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4714483-7072-431F-9DBE-87F44E4D4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5892E1-F4A5-4991-AC52-4F417B14A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CF597F8-76AA-44FA-8E6A-06223B66C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6E12753-0A63-43EE-B28A-C989D033EA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26FA385-76DA-40E9-9257-AA3E07FF6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62D75CA-F374-4878-8106-3EA5E970D6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38667A5-74E3-4EFD-8C45-F48F47427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1512EE2-F4CC-4E18-9CDA-B92C111224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B99E503B-9B4D-4EE3-A50F-15AC374F61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E2683E3F-F855-4549-84F8-42064EC0F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FC90B1E-0223-4440-AF22-8F32F6F0C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2D2E879-0004-4D84-8137-1C09334038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BE75A2-0D83-4F8E-84CC-D3BCD565B1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90F7F49-1039-49EF-A9BD-153DB590B6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E85F508-9EA4-4B4D-8171-648670650E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832F3179-0CD5-40C8-9939-D8355006F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1CE155D-684B-4F5E-B835-C52765E31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4F84AF8-E1A7-41D4-A102-8F87CAE37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ED126F1-DB23-4314-B6C7-FE89E3C58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8ACB2B6F-8883-4A00-88DD-98CDDD46B8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3B9A2180-808A-4423-BB2B-6464B2900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F148FD3-8B23-242B-B82E-4B8CADC4B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8173" y="630936"/>
            <a:ext cx="7315200" cy="2702018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CPM method 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1C37E97-725F-81FC-79F3-BCD677882A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1431531"/>
              </p:ext>
            </p:extLst>
          </p:nvPr>
        </p:nvGraphicFramePr>
        <p:xfrm>
          <a:off x="1460813" y="29548"/>
          <a:ext cx="9334993" cy="601385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95223">
                  <a:extLst>
                    <a:ext uri="{9D8B030D-6E8A-4147-A177-3AD203B41FA5}">
                      <a16:colId xmlns:a16="http://schemas.microsoft.com/office/drawing/2014/main" val="1052839712"/>
                    </a:ext>
                  </a:extLst>
                </a:gridCol>
                <a:gridCol w="1227969">
                  <a:extLst>
                    <a:ext uri="{9D8B030D-6E8A-4147-A177-3AD203B41FA5}">
                      <a16:colId xmlns:a16="http://schemas.microsoft.com/office/drawing/2014/main" val="441976304"/>
                    </a:ext>
                  </a:extLst>
                </a:gridCol>
                <a:gridCol w="1171956">
                  <a:extLst>
                    <a:ext uri="{9D8B030D-6E8A-4147-A177-3AD203B41FA5}">
                      <a16:colId xmlns:a16="http://schemas.microsoft.com/office/drawing/2014/main" val="2599769223"/>
                    </a:ext>
                  </a:extLst>
                </a:gridCol>
                <a:gridCol w="1227969">
                  <a:extLst>
                    <a:ext uri="{9D8B030D-6E8A-4147-A177-3AD203B41FA5}">
                      <a16:colId xmlns:a16="http://schemas.microsoft.com/office/drawing/2014/main" val="2219087907"/>
                    </a:ext>
                  </a:extLst>
                </a:gridCol>
                <a:gridCol w="1227969">
                  <a:extLst>
                    <a:ext uri="{9D8B030D-6E8A-4147-A177-3AD203B41FA5}">
                      <a16:colId xmlns:a16="http://schemas.microsoft.com/office/drawing/2014/main" val="1679717912"/>
                    </a:ext>
                  </a:extLst>
                </a:gridCol>
                <a:gridCol w="1227969">
                  <a:extLst>
                    <a:ext uri="{9D8B030D-6E8A-4147-A177-3AD203B41FA5}">
                      <a16:colId xmlns:a16="http://schemas.microsoft.com/office/drawing/2014/main" val="1934522950"/>
                    </a:ext>
                  </a:extLst>
                </a:gridCol>
                <a:gridCol w="1227969">
                  <a:extLst>
                    <a:ext uri="{9D8B030D-6E8A-4147-A177-3AD203B41FA5}">
                      <a16:colId xmlns:a16="http://schemas.microsoft.com/office/drawing/2014/main" val="3993479414"/>
                    </a:ext>
                  </a:extLst>
                </a:gridCol>
                <a:gridCol w="1227969">
                  <a:extLst>
                    <a:ext uri="{9D8B030D-6E8A-4147-A177-3AD203B41FA5}">
                      <a16:colId xmlns:a16="http://schemas.microsoft.com/office/drawing/2014/main" val="4123389035"/>
                    </a:ext>
                  </a:extLst>
                </a:gridCol>
              </a:tblGrid>
              <a:tr h="375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ID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Te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Pred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ES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EF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LS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LF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Slack</a:t>
                      </a:r>
                    </a:p>
                  </a:txBody>
                  <a:tcPr marL="85424" marR="85424" marT="42712" marB="42712" anchor="ctr"/>
                </a:tc>
                <a:extLst>
                  <a:ext uri="{0D108BD9-81ED-4DB2-BD59-A6C34878D82A}">
                    <a16:rowId xmlns:a16="http://schemas.microsoft.com/office/drawing/2014/main" val="1838645392"/>
                  </a:ext>
                </a:extLst>
              </a:tr>
              <a:tr h="375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A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31.7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-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0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31.7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0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31.7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0</a:t>
                      </a:r>
                    </a:p>
                  </a:txBody>
                  <a:tcPr marL="85424" marR="85424" marT="42712" marB="42712" anchor="ctr"/>
                </a:tc>
                <a:extLst>
                  <a:ext uri="{0D108BD9-81ED-4DB2-BD59-A6C34878D82A}">
                    <a16:rowId xmlns:a16="http://schemas.microsoft.com/office/drawing/2014/main" val="2208519644"/>
                  </a:ext>
                </a:extLst>
              </a:tr>
              <a:tr h="375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B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45.0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A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31.7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76.7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31.7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76.7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0</a:t>
                      </a:r>
                    </a:p>
                  </a:txBody>
                  <a:tcPr marL="85424" marR="85424" marT="42712" marB="42712" anchor="ctr"/>
                </a:tc>
                <a:extLst>
                  <a:ext uri="{0D108BD9-81ED-4DB2-BD59-A6C34878D82A}">
                    <a16:rowId xmlns:a16="http://schemas.microsoft.com/office/drawing/2014/main" val="1832908423"/>
                  </a:ext>
                </a:extLst>
              </a:tr>
              <a:tr h="375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C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61.7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B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76.7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138.4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76.7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138.4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0</a:t>
                      </a:r>
                    </a:p>
                  </a:txBody>
                  <a:tcPr marL="85424" marR="85424" marT="42712" marB="42712" anchor="ctr"/>
                </a:tc>
                <a:extLst>
                  <a:ext uri="{0D108BD9-81ED-4DB2-BD59-A6C34878D82A}">
                    <a16:rowId xmlns:a16="http://schemas.microsoft.com/office/drawing/2014/main" val="2559502386"/>
                  </a:ext>
                </a:extLst>
              </a:tr>
              <a:tr h="375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D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40.0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A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31.7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71.7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88.4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128.4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56.7</a:t>
                      </a:r>
                    </a:p>
                  </a:txBody>
                  <a:tcPr marL="85424" marR="85424" marT="42712" marB="42712" anchor="ctr"/>
                </a:tc>
                <a:extLst>
                  <a:ext uri="{0D108BD9-81ED-4DB2-BD59-A6C34878D82A}">
                    <a16:rowId xmlns:a16="http://schemas.microsoft.com/office/drawing/2014/main" val="2622269278"/>
                  </a:ext>
                </a:extLst>
              </a:tr>
              <a:tr h="375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E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90.0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D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71.7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161.7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128.4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218.4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56.7</a:t>
                      </a:r>
                    </a:p>
                  </a:txBody>
                  <a:tcPr marL="85424" marR="85424" marT="42712" marB="42712" anchor="ctr"/>
                </a:tc>
                <a:extLst>
                  <a:ext uri="{0D108BD9-81ED-4DB2-BD59-A6C34878D82A}">
                    <a16:rowId xmlns:a16="http://schemas.microsoft.com/office/drawing/2014/main" val="1934905270"/>
                  </a:ext>
                </a:extLst>
              </a:tr>
              <a:tr h="375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F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31.7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D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71.7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103.4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133.4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165.1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61.7</a:t>
                      </a:r>
                    </a:p>
                  </a:txBody>
                  <a:tcPr marL="85424" marR="85424" marT="42712" marB="42712" anchor="ctr"/>
                </a:tc>
                <a:extLst>
                  <a:ext uri="{0D108BD9-81ED-4DB2-BD59-A6C34878D82A}">
                    <a16:rowId xmlns:a16="http://schemas.microsoft.com/office/drawing/2014/main" val="1442060308"/>
                  </a:ext>
                </a:extLst>
              </a:tr>
              <a:tr h="375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G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46.7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C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138.4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185.1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138.4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185.1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0</a:t>
                      </a:r>
                    </a:p>
                  </a:txBody>
                  <a:tcPr marL="85424" marR="85424" marT="42712" marB="42712" anchor="ctr"/>
                </a:tc>
                <a:extLst>
                  <a:ext uri="{0D108BD9-81ED-4DB2-BD59-A6C34878D82A}">
                    <a16:rowId xmlns:a16="http://schemas.microsoft.com/office/drawing/2014/main" val="1213965544"/>
                  </a:ext>
                </a:extLst>
              </a:tr>
              <a:tr h="375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H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71.7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G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185.1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256.8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185.1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256.8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0</a:t>
                      </a:r>
                    </a:p>
                  </a:txBody>
                  <a:tcPr marL="85424" marR="85424" marT="42712" marB="42712" anchor="ctr"/>
                </a:tc>
                <a:extLst>
                  <a:ext uri="{0D108BD9-81ED-4DB2-BD59-A6C34878D82A}">
                    <a16:rowId xmlns:a16="http://schemas.microsoft.com/office/drawing/2014/main" val="2525010172"/>
                  </a:ext>
                </a:extLst>
              </a:tr>
              <a:tr h="375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I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91.7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H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256.8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348.5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256.8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348.5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0</a:t>
                      </a:r>
                    </a:p>
                  </a:txBody>
                  <a:tcPr marL="85424" marR="85424" marT="42712" marB="42712" anchor="ctr"/>
                </a:tc>
                <a:extLst>
                  <a:ext uri="{0D108BD9-81ED-4DB2-BD59-A6C34878D82A}">
                    <a16:rowId xmlns:a16="http://schemas.microsoft.com/office/drawing/2014/main" val="2907081858"/>
                  </a:ext>
                </a:extLst>
              </a:tr>
              <a:tr h="375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J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76.7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I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348.5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425.2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348.5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425.2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0</a:t>
                      </a:r>
                    </a:p>
                  </a:txBody>
                  <a:tcPr marL="85424" marR="85424" marT="42712" marB="42712" anchor="ctr"/>
                </a:tc>
                <a:extLst>
                  <a:ext uri="{0D108BD9-81ED-4DB2-BD59-A6C34878D82A}">
                    <a16:rowId xmlns:a16="http://schemas.microsoft.com/office/drawing/2014/main" val="1976712638"/>
                  </a:ext>
                </a:extLst>
              </a:tr>
              <a:tr h="375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K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61.7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H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256.8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318.5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283.5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345.2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26.7</a:t>
                      </a:r>
                    </a:p>
                  </a:txBody>
                  <a:tcPr marL="85424" marR="85424" marT="42712" marB="42712" anchor="ctr"/>
                </a:tc>
                <a:extLst>
                  <a:ext uri="{0D108BD9-81ED-4DB2-BD59-A6C34878D82A}">
                    <a16:rowId xmlns:a16="http://schemas.microsoft.com/office/drawing/2014/main" val="3588413332"/>
                  </a:ext>
                </a:extLst>
              </a:tr>
              <a:tr h="375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L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101.7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J,E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425.2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526.9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425.2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526.9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0</a:t>
                      </a:r>
                    </a:p>
                  </a:txBody>
                  <a:tcPr marL="85424" marR="85424" marT="42712" marB="42712" anchor="ctr"/>
                </a:tc>
                <a:extLst>
                  <a:ext uri="{0D108BD9-81ED-4DB2-BD59-A6C34878D82A}">
                    <a16:rowId xmlns:a16="http://schemas.microsoft.com/office/drawing/2014/main" val="310589352"/>
                  </a:ext>
                </a:extLst>
              </a:tr>
              <a:tr h="375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M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86.7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J,F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425.2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511.9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440.2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526.9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15.0</a:t>
                      </a:r>
                    </a:p>
                  </a:txBody>
                  <a:tcPr marL="85424" marR="85424" marT="42712" marB="42712" anchor="ctr"/>
                </a:tc>
                <a:extLst>
                  <a:ext uri="{0D108BD9-81ED-4DB2-BD59-A6C34878D82A}">
                    <a16:rowId xmlns:a16="http://schemas.microsoft.com/office/drawing/2014/main" val="4239951757"/>
                  </a:ext>
                </a:extLst>
              </a:tr>
              <a:tr h="375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N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76.7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K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318.5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395.2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450.2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526.9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131.7</a:t>
                      </a:r>
                    </a:p>
                  </a:txBody>
                  <a:tcPr marL="85424" marR="85424" marT="42712" marB="42712" anchor="ctr"/>
                </a:tc>
                <a:extLst>
                  <a:ext uri="{0D108BD9-81ED-4DB2-BD59-A6C34878D82A}">
                    <a16:rowId xmlns:a16="http://schemas.microsoft.com/office/drawing/2014/main" val="3564988645"/>
                  </a:ext>
                </a:extLst>
              </a:tr>
              <a:tr h="375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O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71.7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J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425.2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496.9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455.2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526.9</a:t>
                      </a:r>
                    </a:p>
                  </a:txBody>
                  <a:tcPr marL="85424" marR="85424" marT="42712" marB="427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30.0</a:t>
                      </a:r>
                    </a:p>
                  </a:txBody>
                  <a:tcPr marL="85424" marR="85424" marT="42712" marB="42712" anchor="ctr"/>
                </a:tc>
                <a:extLst>
                  <a:ext uri="{0D108BD9-81ED-4DB2-BD59-A6C34878D82A}">
                    <a16:rowId xmlns:a16="http://schemas.microsoft.com/office/drawing/2014/main" val="20217299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67040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77CC21-AAA3-2F2A-E105-EE69B28EE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BD8CD5-CE84-2E20-7464-30EE10354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DE8B994-5049-9F47-C1AC-CF2491D0B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2561771"/>
            <a:chOff x="0" y="0"/>
            <a:chExt cx="12192000" cy="256177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C1FDFE8-4324-737E-72C0-2E2956546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83F17BD-883E-519D-4D7C-3729CD1C08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552FF60-5EAF-E083-FAAF-28945E0E5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2915" y="529389"/>
            <a:ext cx="7866060" cy="1218897"/>
          </a:xfrm>
        </p:spPr>
        <p:txBody>
          <a:bodyPr anchor="b">
            <a:normAutofit/>
          </a:bodyPr>
          <a:lstStyle/>
          <a:p>
            <a:r>
              <a:rPr lang="en-US" sz="4000" dirty="0"/>
              <a:t>CPM method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C1107EC-224B-B4D2-F0A9-7B841A8E4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0" y="2027156"/>
            <a:ext cx="12192000" cy="757168"/>
            <a:chOff x="0" y="2959818"/>
            <a:chExt cx="12192000" cy="75716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C525407-1ABD-FA70-10E0-8C245731C4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AD6DFD9-33BE-CA8A-AC40-D0D72D20CF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E8B08-464F-14C1-54E6-CB0191575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2914" y="3070719"/>
            <a:ext cx="7866061" cy="2937969"/>
          </a:xfrm>
        </p:spPr>
        <p:txBody>
          <a:bodyPr>
            <a:normAutofit/>
          </a:bodyPr>
          <a:lstStyle/>
          <a:p>
            <a:r>
              <a:rPr lang="en-US" sz="2000" b="1" dirty="0"/>
              <a:t>ON-CRITICAL ACTIVITIES (Flexible)</a:t>
            </a:r>
          </a:p>
          <a:p>
            <a:r>
              <a:rPr lang="en-US" sz="2000" dirty="0"/>
              <a:t>Examples:</a:t>
            </a:r>
          </a:p>
          <a:p>
            <a:r>
              <a:rPr lang="en-US" sz="2000" dirty="0"/>
              <a:t>D, E → large slack (~56 days) </a:t>
            </a:r>
          </a:p>
          <a:p>
            <a:r>
              <a:rPr lang="en-US" sz="2000" dirty="0"/>
              <a:t>N → VERY flexible (131 days!) </a:t>
            </a:r>
          </a:p>
          <a:p>
            <a:r>
              <a:rPr lang="en-US" sz="2000" dirty="0"/>
              <a:t>Q → moderate slack </a:t>
            </a:r>
          </a:p>
          <a:p>
            <a:r>
              <a:rPr lang="en-US" sz="2000" dirty="0"/>
              <a:t>M, O, T → small flexibility</a:t>
            </a:r>
          </a:p>
          <a:p>
            <a:endParaRPr lang="en-US" sz="4000" dirty="0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04268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516DC6-8F92-7ADB-7850-F923B1EBC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0F606CC-B58E-4D6F-F20B-F73B04828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D9543A0-7C01-2C0A-7C83-4A456684CB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2561771"/>
            <a:chOff x="0" y="0"/>
            <a:chExt cx="12192000" cy="256177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CDBF176-8291-2338-E142-1E032C216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358D2A0-CF5B-216D-8FE1-F929FB4561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4318E46-D7DC-2208-F644-23007B088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2915" y="529389"/>
            <a:ext cx="7866060" cy="1218897"/>
          </a:xfrm>
        </p:spPr>
        <p:txBody>
          <a:bodyPr anchor="b">
            <a:normAutofit/>
          </a:bodyPr>
          <a:lstStyle/>
          <a:p>
            <a:r>
              <a:rPr lang="en-US" sz="4000" dirty="0"/>
              <a:t>CPM method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A0221C3-738B-DD87-58BB-ED128DB88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0" y="2027156"/>
            <a:ext cx="12192000" cy="757168"/>
            <a:chOff x="0" y="2959818"/>
            <a:chExt cx="12192000" cy="75716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960B31-CEFD-D341-0145-512E02C0E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277D9A6-571C-9D60-B5A9-3F542FDAD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0CEFE-50E0-BF75-11CD-53620BFED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2914" y="3070719"/>
            <a:ext cx="7866061" cy="2937969"/>
          </a:xfrm>
        </p:spPr>
        <p:txBody>
          <a:bodyPr>
            <a:normAutofit/>
          </a:bodyPr>
          <a:lstStyle/>
          <a:p>
            <a:r>
              <a:rPr lang="en-US" sz="2000" b="1" dirty="0"/>
              <a:t>ON-CRITICAL ACTIVITIES (Flexible)</a:t>
            </a:r>
          </a:p>
          <a:p>
            <a:r>
              <a:rPr lang="en-US" sz="2000" dirty="0"/>
              <a:t>Examples:</a:t>
            </a:r>
          </a:p>
          <a:p>
            <a:r>
              <a:rPr lang="en-US" sz="2000" dirty="0"/>
              <a:t>D, E → large slack (~56 days) </a:t>
            </a:r>
          </a:p>
          <a:p>
            <a:r>
              <a:rPr lang="en-US" sz="2000" dirty="0"/>
              <a:t>N → VERY flexible (131 days!) </a:t>
            </a:r>
          </a:p>
          <a:p>
            <a:r>
              <a:rPr lang="en-US" sz="2000" dirty="0"/>
              <a:t>Q → moderate slack </a:t>
            </a:r>
          </a:p>
          <a:p>
            <a:r>
              <a:rPr lang="en-US" sz="2000" dirty="0"/>
              <a:t>M, O, T → small flexibility</a:t>
            </a:r>
          </a:p>
          <a:p>
            <a:endParaRPr lang="en-US" sz="4000" dirty="0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26182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15067D-A639-1211-5547-A81818098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42671CC-E929-5DBC-B7DA-981701D7D3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2EAB384-20C3-210C-4823-8234C05D1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2561771"/>
            <a:chOff x="0" y="0"/>
            <a:chExt cx="12192000" cy="256177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421CEE8-63BB-1754-0F11-B71336006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E90326A-11DB-CC68-8C88-6EE846AB85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BA22C97-C07D-7898-8EAF-1E30C3813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2915" y="529389"/>
            <a:ext cx="7866060" cy="1218897"/>
          </a:xfrm>
        </p:spPr>
        <p:txBody>
          <a:bodyPr anchor="b">
            <a:normAutofit/>
          </a:bodyPr>
          <a:lstStyle/>
          <a:p>
            <a:r>
              <a:rPr lang="en-US" sz="4000" dirty="0"/>
              <a:t>CPM method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A3B3D9F-5FB5-2BE3-47A2-491205740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0" y="2027156"/>
            <a:ext cx="12192000" cy="757168"/>
            <a:chOff x="0" y="2959818"/>
            <a:chExt cx="12192000" cy="75716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028963D-5666-8AE6-7DD9-AC52CDC0B0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92EFB1B-1737-9C26-9DBD-AAEE34EE6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AFEB1-D429-492D-BB8A-015AD4286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3070720"/>
            <a:ext cx="3372460" cy="2749978"/>
          </a:xfrm>
        </p:spPr>
        <p:txBody>
          <a:bodyPr>
            <a:normAutofit/>
          </a:bodyPr>
          <a:lstStyle/>
          <a:p>
            <a:r>
              <a:rPr lang="en-US" sz="1800" b="1" dirty="0"/>
              <a:t>1. Bottlenecks</a:t>
            </a:r>
          </a:p>
          <a:p>
            <a:pPr marL="457200" lvl="1" indent="0">
              <a:buNone/>
            </a:pPr>
            <a:r>
              <a:rPr lang="en-US" sz="1800" dirty="0"/>
              <a:t>Structural completion (I → J) </a:t>
            </a:r>
          </a:p>
          <a:p>
            <a:pPr marL="457200" lvl="1" indent="0">
              <a:buNone/>
            </a:pPr>
            <a:r>
              <a:rPr lang="en-US" sz="1800" dirty="0"/>
              <a:t>Robotics installation (L) </a:t>
            </a:r>
          </a:p>
          <a:p>
            <a:pPr marL="457200" lvl="1" indent="0">
              <a:buNone/>
            </a:pPr>
            <a:r>
              <a:rPr lang="en-US" sz="1800" dirty="0"/>
              <a:t>Digital twin integration (P) </a:t>
            </a:r>
          </a:p>
          <a:p>
            <a:pPr marL="457200" lvl="1" indent="0">
              <a:buNone/>
            </a:pPr>
            <a:r>
              <a:rPr lang="en-US" sz="1800" dirty="0"/>
              <a:t>Final system integration (R)</a:t>
            </a:r>
          </a:p>
          <a:p>
            <a:endParaRPr lang="en-US" sz="40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E529F2-B9B3-CA08-8198-41FC6B49C0FE}"/>
              </a:ext>
            </a:extLst>
          </p:cNvPr>
          <p:cNvSpPr txBox="1"/>
          <p:nvPr/>
        </p:nvSpPr>
        <p:spPr>
          <a:xfrm>
            <a:off x="4812889" y="2968381"/>
            <a:ext cx="256622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2. Risk Zones</a:t>
            </a:r>
          </a:p>
          <a:p>
            <a:pPr lvl="1"/>
            <a:r>
              <a:rPr lang="en-US" dirty="0"/>
              <a:t>Digital systems (P, Q) </a:t>
            </a:r>
          </a:p>
          <a:p>
            <a:pPr lvl="1"/>
            <a:r>
              <a:rPr lang="en-US" dirty="0"/>
              <a:t>Robotics (L) </a:t>
            </a:r>
          </a:p>
          <a:p>
            <a:pPr lvl="1"/>
            <a:r>
              <a:rPr lang="en-US" dirty="0"/>
              <a:t>Permitting delays (C)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2B235C-DC53-C277-36A1-219256CD4246}"/>
              </a:ext>
            </a:extLst>
          </p:cNvPr>
          <p:cNvSpPr txBox="1"/>
          <p:nvPr/>
        </p:nvSpPr>
        <p:spPr>
          <a:xfrm>
            <a:off x="8244348" y="3036777"/>
            <a:ext cx="31561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3. Optimization Strategy</a:t>
            </a:r>
          </a:p>
          <a:p>
            <a:pPr lvl="1"/>
            <a:r>
              <a:rPr lang="en-US" dirty="0"/>
              <a:t>Crash activities: </a:t>
            </a:r>
          </a:p>
          <a:p>
            <a:pPr lvl="2"/>
            <a:r>
              <a:rPr lang="en-US" dirty="0"/>
              <a:t>L (Robotics) </a:t>
            </a:r>
          </a:p>
          <a:p>
            <a:pPr lvl="2"/>
            <a:r>
              <a:rPr lang="en-US" dirty="0"/>
              <a:t>P (Digital Twin) </a:t>
            </a:r>
          </a:p>
          <a:p>
            <a:pPr lvl="1"/>
            <a:r>
              <a:rPr lang="en-US" dirty="0"/>
              <a:t>Use slack from: </a:t>
            </a:r>
          </a:p>
          <a:p>
            <a:pPr lvl="2"/>
            <a:r>
              <a:rPr lang="en-US" dirty="0"/>
              <a:t>N (Energy system) </a:t>
            </a:r>
          </a:p>
          <a:p>
            <a:pPr lvl="2"/>
            <a:r>
              <a:rPr lang="en-US" dirty="0"/>
              <a:t>Q (AI systems)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9307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A7145A-74D8-9AB6-D187-CC27C3A9E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54AA4AC-FDFF-3D05-FA51-3197BF8C1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F3F831D-2827-6D4A-AE17-39A84AB31F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2561771"/>
            <a:chOff x="0" y="0"/>
            <a:chExt cx="12192000" cy="256177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802B90F-A7C8-6B7F-3C2E-64043F908E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FFCE5CF-B883-0472-F517-FFF6D1E1A8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225C195-CCCB-1209-7E10-244C40BFE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2915" y="529389"/>
            <a:ext cx="7866060" cy="1218897"/>
          </a:xfrm>
        </p:spPr>
        <p:txBody>
          <a:bodyPr anchor="b">
            <a:normAutofit/>
          </a:bodyPr>
          <a:lstStyle/>
          <a:p>
            <a:r>
              <a:rPr lang="en-US" sz="4000" dirty="0"/>
              <a:t>CONCLUSION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83938DF-397E-F611-C8ED-CAE32728A0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0" y="2027156"/>
            <a:ext cx="12192000" cy="757168"/>
            <a:chOff x="0" y="2959818"/>
            <a:chExt cx="12192000" cy="75716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B18EC8B-6BB1-D157-9407-84B99FB3CC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4B8A94B-94FB-9E9A-9BD7-4061C0D755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EED66-BB58-BD0E-D34B-ABE953E88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2914" y="3070719"/>
            <a:ext cx="7866061" cy="293796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PERT + CPM are essential for mega projects</a:t>
            </a:r>
          </a:p>
          <a:p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Critical path determines project success</a:t>
            </a:r>
          </a:p>
          <a:p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Industry 4.0 increases complexity but improves efficiency</a:t>
            </a:r>
          </a:p>
        </p:txBody>
      </p:sp>
    </p:spTree>
    <p:extLst>
      <p:ext uri="{BB962C8B-B14F-4D97-AF65-F5344CB8AC3E}">
        <p14:creationId xmlns:p14="http://schemas.microsoft.com/office/powerpoint/2010/main" val="35187989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989</Words>
  <Application>Microsoft Office PowerPoint</Application>
  <PresentationFormat>Widescreen</PresentationFormat>
  <Paragraphs>403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Factory 56 Inspired Smart Manufacturing Facility</vt:lpstr>
      <vt:lpstr>What is PERT</vt:lpstr>
      <vt:lpstr>Objective of PERT</vt:lpstr>
      <vt:lpstr>Key part pf PERT</vt:lpstr>
      <vt:lpstr>Factory 56 Standard – Sindelfingen Model: PERT Data Table</vt:lpstr>
      <vt:lpstr>Factory 56 Standard – Sindelfingen Model: PERT Date Table</vt:lpstr>
      <vt:lpstr>Factory 56 Standard – Sindelfingen Model</vt:lpstr>
      <vt:lpstr>Factory 56 Standard – Sindelfingen Model</vt:lpstr>
      <vt:lpstr>PowerPoint Presentation</vt:lpstr>
      <vt:lpstr>Critical Path (Total Expected Duration)</vt:lpstr>
      <vt:lpstr>What Makes This “Factory 56 Level”</vt:lpstr>
      <vt:lpstr>Comparison between PERT and CPM</vt:lpstr>
      <vt:lpstr>CPM method </vt:lpstr>
      <vt:lpstr>CPM method </vt:lpstr>
      <vt:lpstr>CPM method </vt:lpstr>
      <vt:lpstr>CPM method </vt:lpstr>
      <vt:lpstr>CPM method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anas elkabir</dc:creator>
  <cp:lastModifiedBy>anas elkabir</cp:lastModifiedBy>
  <cp:revision>2</cp:revision>
  <dcterms:created xsi:type="dcterms:W3CDTF">2026-04-14T09:01:09Z</dcterms:created>
  <dcterms:modified xsi:type="dcterms:W3CDTF">2026-04-14T10:07:36Z</dcterms:modified>
</cp:coreProperties>
</file>