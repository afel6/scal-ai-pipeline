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13686-7FA9-1E18-8591-A4F2292FC8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D7506C-DC70-B9A9-299F-D47DD2F687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CFBAD-C185-BC3C-E720-C2D46B821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C41D7-D06D-45F1-9AE4-9251B421FFA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9FDB3-5AB2-C0A4-29E9-F345F8CE7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BBC92-97F3-F632-B8A5-346CCE914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D0E13-9942-41A8-87D1-7EE713D3B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737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63DDA-9550-E1B3-360D-F4F06DE22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B2E97-54A9-8353-1922-D85D869CC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276CA-DAD0-C9E6-2ADE-118B073C3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C41D7-D06D-45F1-9AE4-9251B421FFA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9DA4A-61AA-8669-0130-91D7EDD0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D9693-E94D-CDA9-A57E-0C76179A1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D0E13-9942-41A8-87D1-7EE713D3B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745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12C1B-DD24-A5D2-725C-57381479A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ACCE30-8A4F-9576-DBF0-1777619ED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4236A-C67D-8C7C-3F55-8E5D42FC3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C41D7-D06D-45F1-9AE4-9251B421FFA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91F22-426C-44E9-53A2-3D8E5E78F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62803-DC89-105E-E119-9FA690AC3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D0E13-9942-41A8-87D1-7EE713D3B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404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BF910-07AC-703D-C4F0-EEDA10BCF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C8D71-8F32-F86A-D11A-BFE69441BD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AC462-5EFC-11FB-D669-6E9C8CA7A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26BB8B-029D-86DE-5F8E-CF098D6BC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C41D7-D06D-45F1-9AE4-9251B421FFA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E0DFF4-BDB4-03BA-ECA6-EF40EAA2F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9A9A5B-4B74-2542-B647-5FF8CF8E3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D0E13-9942-41A8-87D1-7EE713D3B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78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05CED-740F-24B3-F09D-3BAFBED18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2FCBC9-B2BC-BEFB-E6F4-887B3F81A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1B90D-98F8-B4FA-8800-BEC886D49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84BA21-A8FC-3674-4B34-15A24A84F5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590977-6D65-D25F-19CE-4983AAD0E6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2AA002-5EFA-5C6C-E00D-089F9AD01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C41D7-D06D-45F1-9AE4-9251B421FFA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E4A733-3509-F771-D8D4-8A399774A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B8C937-E99A-7D32-E116-F2901D1B9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D0E13-9942-41A8-87D1-7EE713D3B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440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E8A23-D905-37A8-2727-55068E452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7AA0E3-41E8-2435-821F-EE988FB4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C41D7-D06D-45F1-9AE4-9251B421FFA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278AB6-F172-E7BC-C6D3-EF00CC62F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851D3-3170-9800-688E-934BD77F6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D0E13-9942-41A8-87D1-7EE713D3B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580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D59291-05FA-2286-869E-374977152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C41D7-D06D-45F1-9AE4-9251B421FFA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F4F99B-7728-3C15-000E-E7821D8FE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BB46D-575E-5896-F6D4-3D14C0869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D0E13-9942-41A8-87D1-7EE713D3B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335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6C7B8-7BBE-005D-0758-236238BA9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9C8F4-FA58-287A-B49A-F7FDC7C9F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A73FF3-1D35-6864-20EE-A85A7692E1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268C30-8369-0C8A-101E-FF3580912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C41D7-D06D-45F1-9AE4-9251B421FFA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9C08D7-57B9-F008-6742-3CBB3062B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5F03D-4824-50BD-7252-23760FCAD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D0E13-9942-41A8-87D1-7EE713D3B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11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A377F-AD06-ED62-54B2-5AD74D7A4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197184-B871-D4F8-0728-8A8CEC5747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07DC7-EF0A-2894-9DA8-851E1EF8B7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62AA47-4D24-6D6F-1359-BBDEF2CA6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C41D7-D06D-45F1-9AE4-9251B421FFA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854028-8F16-6CF6-8D33-D4DBD2C0A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B1DA7B-CA2C-4FC5-F0B0-B4DFB42D3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D0E13-9942-41A8-87D1-7EE713D3B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569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25E30-50DA-5042-FF5B-FC1F1858B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8EB85-C391-2566-F500-6BAA16917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15ECC-F169-699C-E941-D43AD87C1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C41D7-D06D-45F1-9AE4-9251B421FFA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CFB63-6223-7853-00C2-48AAF77CD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5505E-D9FB-7A8F-97BF-D9870F648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D0E13-9942-41A8-87D1-7EE713D3B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263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1E548B-4081-7FEF-BA79-971F21806E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C79C8C-E2DA-8E4A-B745-08673B59CF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74283-A2A3-6FF5-33B2-B614A2D29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C41D7-D06D-45F1-9AE4-9251B421FFA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9D797-71D0-C80A-3577-CB067CDBD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E4857-519F-93BD-0907-ACA086A71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D0E13-9942-41A8-87D1-7EE713D3B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4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9F8EBC-33A6-5FD9-5D4E-C69D1E903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F393B-66D8-A62F-AAE2-6ED27A21B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42203-7F72-3238-727D-9EEB408E21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DC41D7-D06D-45F1-9AE4-9251B421FFA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02F1C-A7A7-F51E-491D-9840F953D5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B1621-2B11-5E7C-5382-BD800909B7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D0E13-9942-41A8-87D1-7EE713D3B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326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tadium with a yellow center&#10;&#10;AI-generated content may be incorrect.">
            <a:extLst>
              <a:ext uri="{FF2B5EF4-FFF2-40B4-BE49-F238E27FC236}">
                <a16:creationId xmlns:a16="http://schemas.microsoft.com/office/drawing/2014/main" id="{6DFC5C88-2B7A-E49C-B9A8-F735F622AE7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2" b="16588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B952FB-A0C6-B583-9C7C-DB7FFFCA67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Prince Moulay El Hassan Stadium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0D1DF8-955A-72B7-839F-2689B8FB7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Ayoub Askour</a:t>
            </a:r>
          </a:p>
          <a:p>
            <a:r>
              <a:rPr lang="en-US">
                <a:solidFill>
                  <a:srgbClr val="FFFFFF"/>
                </a:solidFill>
              </a:rPr>
              <a:t>Ans Elkabir</a:t>
            </a:r>
          </a:p>
        </p:txBody>
      </p:sp>
    </p:spTree>
    <p:extLst>
      <p:ext uri="{BB962C8B-B14F-4D97-AF65-F5344CB8AC3E}">
        <p14:creationId xmlns:p14="http://schemas.microsoft.com/office/powerpoint/2010/main" val="22628910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71C27A-6E1C-9A41-7444-45AAC9C17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4600"/>
              <a:t>Prince Moulay El Hassan Stadium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D4DB109-1B6E-E72E-2CC9-2A21BDE81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1800" dirty="0"/>
              <a:t>Rabat, Morocco</a:t>
            </a:r>
          </a:p>
          <a:p>
            <a:r>
              <a:rPr lang="en-US" sz="1800" dirty="0"/>
              <a:t>Old capacity: 12,000 → New capacity: 22,000</a:t>
            </a:r>
          </a:p>
          <a:p>
            <a:r>
              <a:rPr lang="en-US" sz="1800" dirty="0"/>
              <a:t>Originally opened in 1983, renovated in 2012</a:t>
            </a:r>
          </a:p>
          <a:p>
            <a:r>
              <a:rPr lang="en-US" sz="1800" dirty="0"/>
              <a:t>Old stadium was completely demolished in 2024 and rebuilt from scratch</a:t>
            </a:r>
          </a:p>
          <a:p>
            <a:r>
              <a:rPr lang="en-US" sz="1800" dirty="0"/>
              <a:t>Cost: about 800 million Moroccan dirhams</a:t>
            </a:r>
          </a:p>
        </p:txBody>
      </p:sp>
      <p:pic>
        <p:nvPicPr>
          <p:cNvPr id="5" name="Content Placeholder 4" descr="A sports stadium with a large skylight&#10;&#10;AI-generated content may be incorrect.">
            <a:extLst>
              <a:ext uri="{FF2B5EF4-FFF2-40B4-BE49-F238E27FC236}">
                <a16:creationId xmlns:a16="http://schemas.microsoft.com/office/drawing/2014/main" id="{135A28DF-2B74-B908-0822-4FCCA8F126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1" r="25810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47917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C7412B-BFEE-4D78-10DA-3281811F0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What is Primavera? </a:t>
            </a:r>
          </a:p>
        </p:txBody>
      </p:sp>
      <p:pic>
        <p:nvPicPr>
          <p:cNvPr id="6" name="Picture 5" descr="A group of people in a stadium&#10;&#10;AI-generated content may be incorrect.">
            <a:extLst>
              <a:ext uri="{FF2B5EF4-FFF2-40B4-BE49-F238E27FC236}">
                <a16:creationId xmlns:a16="http://schemas.microsoft.com/office/drawing/2014/main" id="{69C29589-5094-F93C-C139-04B90E2D72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0" r="6124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0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F5BC7-4F64-2CDC-CEF9-6EE97DCC2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n-US" sz="1700" b="1" dirty="0"/>
              <a:t>Primavera (P6) – Project Management Software</a:t>
            </a:r>
            <a:endParaRPr lang="en-US" sz="1700" dirty="0"/>
          </a:p>
          <a:p>
            <a:pPr marL="457200" lvl="1" indent="0">
              <a:buNone/>
            </a:pPr>
            <a:r>
              <a:rPr lang="en-US" sz="1700" dirty="0"/>
              <a:t>Used for planning, scheduling, and controlling projects </a:t>
            </a:r>
          </a:p>
          <a:p>
            <a:pPr marL="457200" lvl="1" indent="0">
              <a:buNone/>
            </a:pPr>
            <a:r>
              <a:rPr lang="en-US" sz="1700" dirty="0"/>
              <a:t>Widely used in engineering and construction</a:t>
            </a:r>
          </a:p>
          <a:p>
            <a:r>
              <a:rPr lang="en-US" sz="1700" b="1" dirty="0"/>
              <a:t>Developed by Oracle Corporation</a:t>
            </a:r>
          </a:p>
          <a:p>
            <a:r>
              <a:rPr lang="en-US" sz="1700" b="1" dirty="0"/>
              <a:t>Project scheduling (activities &amp; timelines)</a:t>
            </a:r>
          </a:p>
          <a:p>
            <a:r>
              <a:rPr lang="en-US" sz="1700" b="1" dirty="0"/>
              <a:t>Resource management (labor, materials)</a:t>
            </a:r>
          </a:p>
          <a:p>
            <a:r>
              <a:rPr lang="en-US" sz="1700" b="1" dirty="0"/>
              <a:t>Cost control and budgeting</a:t>
            </a:r>
          </a:p>
          <a:p>
            <a:r>
              <a:rPr lang="en-US" sz="1700" b="1" dirty="0"/>
              <a:t>Risk analysis</a:t>
            </a:r>
          </a:p>
          <a:p>
            <a:r>
              <a:rPr lang="en-US" sz="1700" b="1" dirty="0"/>
              <a:t>Progress tracking</a:t>
            </a:r>
          </a:p>
        </p:txBody>
      </p:sp>
    </p:spTree>
    <p:extLst>
      <p:ext uri="{BB962C8B-B14F-4D97-AF65-F5344CB8AC3E}">
        <p14:creationId xmlns:p14="http://schemas.microsoft.com/office/powerpoint/2010/main" val="2607252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E775B8-BFDD-101D-2836-E436A1955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Why Use Primavera?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570B9-9320-1CC6-14A1-7E16C923D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/>
              <a:t>Handles very large projects easily</a:t>
            </a:r>
          </a:p>
          <a:p>
            <a:r>
              <a:rPr lang="en-US" sz="2200"/>
              <a:t>Improves planning accuracy</a:t>
            </a:r>
          </a:p>
          <a:p>
            <a:r>
              <a:rPr lang="en-US" sz="2200"/>
              <a:t>Helps identify delays early</a:t>
            </a:r>
          </a:p>
          <a:p>
            <a:r>
              <a:rPr lang="en-US" sz="2200"/>
              <a:t>Supports teamwork and reporting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E0E60B-7882-96DA-A5D5-73E9EBA604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01" r="41490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32691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60AFAAC-EA6C-45A9-9E03-C9C9F0193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football field with a large stadium and a large building&#10;&#10;AI-generated content may be incorrect.">
            <a:extLst>
              <a:ext uri="{FF2B5EF4-FFF2-40B4-BE49-F238E27FC236}">
                <a16:creationId xmlns:a16="http://schemas.microsoft.com/office/drawing/2014/main" id="{9E47214E-2CF9-5F6D-D17E-CD80FA87E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12" r="5856"/>
          <a:stretch>
            <a:fillRect/>
          </a:stretch>
        </p:blipFill>
        <p:spPr>
          <a:xfrm>
            <a:off x="4883022" y="10"/>
            <a:ext cx="7308978" cy="6857990"/>
          </a:xfrm>
          <a:custGeom>
            <a:avLst/>
            <a:gdLst/>
            <a:ahLst/>
            <a:cxnLst/>
            <a:rect l="l" t="t" r="r" b="b"/>
            <a:pathLst>
              <a:path w="7308978" h="6858000">
                <a:moveTo>
                  <a:pt x="0" y="0"/>
                </a:moveTo>
                <a:lnTo>
                  <a:pt x="7308978" y="0"/>
                </a:lnTo>
                <a:lnTo>
                  <a:pt x="7308978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8" y="4741056"/>
                  <a:pt x="1212978" y="3429000"/>
                </a:cubicBezTo>
                <a:cubicBezTo>
                  <a:pt x="1212978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83549E37-C86B-4401-90BD-D8BF83859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3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3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3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3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8A17784E-76D8-4521-A77D-0D2EBB923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6857" cy="6858000"/>
          </a:xfrm>
          <a:custGeom>
            <a:avLst/>
            <a:gdLst>
              <a:gd name="connsiteX0" fmla="*/ 0 w 6086857"/>
              <a:gd name="connsiteY0" fmla="*/ 0 h 6858000"/>
              <a:gd name="connsiteX1" fmla="*/ 4873879 w 6086857"/>
              <a:gd name="connsiteY1" fmla="*/ 0 h 6858000"/>
              <a:gd name="connsiteX2" fmla="*/ 4936862 w 6086857"/>
              <a:gd name="connsiteY2" fmla="*/ 69271 h 6858000"/>
              <a:gd name="connsiteX3" fmla="*/ 6086857 w 6086857"/>
              <a:gd name="connsiteY3" fmla="*/ 3429000 h 6858000"/>
              <a:gd name="connsiteX4" fmla="*/ 4936862 w 6086857"/>
              <a:gd name="connsiteY4" fmla="*/ 6788730 h 6858000"/>
              <a:gd name="connsiteX5" fmla="*/ 4873879 w 6086857"/>
              <a:gd name="connsiteY5" fmla="*/ 6858000 h 6858000"/>
              <a:gd name="connsiteX6" fmla="*/ 0 w 608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6857" h="6858000">
                <a:moveTo>
                  <a:pt x="0" y="0"/>
                </a:moveTo>
                <a:lnTo>
                  <a:pt x="4873879" y="0"/>
                </a:lnTo>
                <a:lnTo>
                  <a:pt x="4936862" y="69271"/>
                </a:lnTo>
                <a:cubicBezTo>
                  <a:pt x="5647388" y="929100"/>
                  <a:pt x="6086857" y="2116944"/>
                  <a:pt x="6086857" y="3429000"/>
                </a:cubicBezTo>
                <a:cubicBezTo>
                  <a:pt x="6086857" y="4741056"/>
                  <a:pt x="5647388" y="5928900"/>
                  <a:pt x="4936862" y="6788730"/>
                </a:cubicBezTo>
                <a:lnTo>
                  <a:pt x="487387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964C85-6F57-F0EA-D5A2-2B6E59A04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856488"/>
            <a:ext cx="4992624" cy="1243584"/>
          </a:xfrm>
        </p:spPr>
        <p:txBody>
          <a:bodyPr anchor="ctr">
            <a:normAutofit/>
          </a:bodyPr>
          <a:lstStyle/>
          <a:p>
            <a:r>
              <a:rPr lang="en-US" sz="3400"/>
              <a:t>Where is it Used?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036C6B-F09C-4EAB-AE02-8D056EE74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325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8D5885-2804-4D3C-BE31-902E4D32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769" y="2195336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052F2-AC4C-C913-50EC-7B39F6CC4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904" y="2522949"/>
            <a:ext cx="5065776" cy="3402363"/>
          </a:xfrm>
        </p:spPr>
        <p:txBody>
          <a:bodyPr anchor="t">
            <a:normAutofit/>
          </a:bodyPr>
          <a:lstStyle/>
          <a:p>
            <a:r>
              <a:rPr lang="en-US" sz="2000"/>
              <a:t>Construction projects (buildings, dams, roads)</a:t>
            </a:r>
          </a:p>
          <a:p>
            <a:r>
              <a:rPr lang="en-US" sz="2000"/>
              <a:t>Infrastructure projects</a:t>
            </a:r>
          </a:p>
          <a:p>
            <a:r>
              <a:rPr lang="en-US" sz="2000"/>
              <a:t>Industrial and manufacturing projects</a:t>
            </a:r>
          </a:p>
          <a:p>
            <a:r>
              <a:rPr lang="en-US" sz="2000"/>
              <a:t>Government and mega projects</a:t>
            </a:r>
          </a:p>
        </p:txBody>
      </p:sp>
    </p:spTree>
    <p:extLst>
      <p:ext uri="{BB962C8B-B14F-4D97-AF65-F5344CB8AC3E}">
        <p14:creationId xmlns:p14="http://schemas.microsoft.com/office/powerpoint/2010/main" val="2083835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149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Prince Moulay El Hassan Stadium</vt:lpstr>
      <vt:lpstr>Prince Moulay El Hassan Stadium</vt:lpstr>
      <vt:lpstr>What is Primavera? </vt:lpstr>
      <vt:lpstr>Why Use Primavera?</vt:lpstr>
      <vt:lpstr>Where is it Used?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 elkabir</dc:creator>
  <cp:lastModifiedBy>anas elkabir</cp:lastModifiedBy>
  <cp:revision>1</cp:revision>
  <dcterms:created xsi:type="dcterms:W3CDTF">2026-04-16T20:33:29Z</dcterms:created>
  <dcterms:modified xsi:type="dcterms:W3CDTF">2026-04-16T21:22:05Z</dcterms:modified>
</cp:coreProperties>
</file>